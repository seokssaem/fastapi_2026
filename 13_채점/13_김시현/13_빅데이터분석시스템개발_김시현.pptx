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3" r:id="rId10"/>
    <p:sldId id="267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A91C7-1F2E-4C78-A542-2904A19B2CA3}"/>
              </a:ext>
            </a:extLst>
          </p:cNvPr>
          <p:cNvSpPr txBox="1"/>
          <p:nvPr/>
        </p:nvSpPr>
        <p:spPr>
          <a:xfrm>
            <a:off x="402672" y="83782"/>
            <a:ext cx="285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1.main.py</a:t>
            </a:r>
            <a:r>
              <a:rPr lang="ko-KR" altLang="en-US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67B4AC-1B3A-4C4F-AEC8-806DA9174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367" y="453114"/>
            <a:ext cx="6585356" cy="34782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7D3820-F884-454B-9D37-020DAE80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787" y="4003559"/>
            <a:ext cx="7600425" cy="240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306FB7-E544-402F-8A2B-8AF9DE05EB6A}"/>
              </a:ext>
            </a:extLst>
          </p:cNvPr>
          <p:cNvSpPr txBox="1"/>
          <p:nvPr/>
        </p:nvSpPr>
        <p:spPr>
          <a:xfrm>
            <a:off x="402672" y="83782"/>
            <a:ext cx="285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2.make_model.py</a:t>
            </a:r>
            <a:r>
              <a:rPr lang="ko-KR" altLang="en-US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577B2F-06D4-42F4-A9FA-9283A8799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" y="527500"/>
            <a:ext cx="7021585" cy="28685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E81270-A58D-48D0-AD98-CFB34FFD5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2" y="3470460"/>
            <a:ext cx="6392411" cy="29385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9447B0-CC6C-4654-AE91-4C3977033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052" y="440089"/>
            <a:ext cx="3301084" cy="29982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94A148A-376B-4001-8025-EA45622DC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026" y="3470460"/>
            <a:ext cx="5031787" cy="295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A7D65C-5CFD-45D5-913C-E9BCDA0A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26" y="182461"/>
            <a:ext cx="4329309" cy="34779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72CCB7-8399-47C2-8278-74D180DF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72" y="182462"/>
            <a:ext cx="6233020" cy="349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0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B6AB5-9777-4D82-9169-8CC7D3F43E7F}"/>
              </a:ext>
            </a:extLst>
          </p:cNvPr>
          <p:cNvSpPr txBox="1"/>
          <p:nvPr/>
        </p:nvSpPr>
        <p:spPr>
          <a:xfrm>
            <a:off x="402672" y="83782"/>
            <a:ext cx="285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3.data_loader.py</a:t>
            </a:r>
            <a:r>
              <a:rPr lang="ko-KR" altLang="en-US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42146E-1130-4581-A0C3-D33BF5D9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21" y="453115"/>
            <a:ext cx="4678697" cy="29322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C2FD60-FCE8-4FFD-B251-F1F8F3082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1" y="3504528"/>
            <a:ext cx="6364885" cy="28861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C660D4-E713-4235-98AE-12CC4456E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529" y="467293"/>
            <a:ext cx="6793391" cy="105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7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35C83-FF8D-4437-8BA1-1B56227C049D}"/>
              </a:ext>
            </a:extLst>
          </p:cNvPr>
          <p:cNvSpPr txBox="1"/>
          <p:nvPr/>
        </p:nvSpPr>
        <p:spPr>
          <a:xfrm>
            <a:off x="402671" y="83782"/>
            <a:ext cx="385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4.deep_search_festival_app.py</a:t>
            </a:r>
            <a:r>
              <a:rPr lang="ko-KR" altLang="en-US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A5367B-E899-41F5-A9FE-45D25373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" y="453114"/>
            <a:ext cx="5452845" cy="30416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2EB38C-2B3C-4B4F-8424-33E769DDD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2" y="3616181"/>
            <a:ext cx="4597168" cy="28556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DC9C82-A027-4857-B3BC-02E89A5F6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335" y="438180"/>
            <a:ext cx="4777488" cy="30565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823EA0-6EB8-4D24-9C1B-7531CB7FD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334" y="3561402"/>
            <a:ext cx="4777487" cy="296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9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6BFE8F-B552-4272-A0C4-767C490FE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0" y="201598"/>
            <a:ext cx="7318827" cy="25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8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751640-B183-4563-A0B8-E95BE5EB87D8}"/>
              </a:ext>
            </a:extLst>
          </p:cNvPr>
          <p:cNvSpPr txBox="1"/>
          <p:nvPr/>
        </p:nvSpPr>
        <p:spPr>
          <a:xfrm>
            <a:off x="402671" y="83782"/>
            <a:ext cx="385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5.</a:t>
            </a:r>
            <a:r>
              <a:rPr lang="en-US" altLang="ko-KR" dirty="0">
                <a:solidFill>
                  <a:srgbClr val="A5D6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effectLst/>
                <a:latin typeface="+mn-ea"/>
              </a:rPr>
              <a:t>predict_visitor_app.py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6C1571-DBDA-4AA6-8B34-338DFE17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428625"/>
            <a:ext cx="5157525" cy="27512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5ED06-87A5-4027-B1D5-2D33A261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3269583"/>
            <a:ext cx="5157525" cy="30759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0282D7-529B-4A36-B8ED-EEC56C0AC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78" y="423863"/>
            <a:ext cx="4407015" cy="31780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EE8B0BF-0B3B-4AAB-9CA8-84C4D926C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177" y="3797602"/>
            <a:ext cx="4407015" cy="59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7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50A38-9A35-4CED-B969-55148D91EBAD}"/>
              </a:ext>
            </a:extLst>
          </p:cNvPr>
          <p:cNvSpPr txBox="1"/>
          <p:nvPr/>
        </p:nvSpPr>
        <p:spPr>
          <a:xfrm>
            <a:off x="402671" y="83782"/>
            <a:ext cx="385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6.search_festival_app</a:t>
            </a:r>
            <a:r>
              <a:rPr lang="en-US" altLang="ko-KR" b="0" dirty="0">
                <a:effectLst/>
                <a:latin typeface="+mn-ea"/>
              </a:rPr>
              <a:t>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1394CF-89AB-4C4C-AF99-9EC279773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" y="518633"/>
            <a:ext cx="5066950" cy="29689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69E82CC-AE63-426C-94A8-255CEA059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51" y="3730403"/>
            <a:ext cx="5597373" cy="2559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E2997-72CA-482E-B99D-47FB9A8E7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131" y="756977"/>
            <a:ext cx="5963276" cy="267202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3C3F48-4561-4D59-841A-D7E1C90FA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847849"/>
            <a:ext cx="6073539" cy="228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1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B2D40-B8C0-44B2-90E3-F18FA97317F9}"/>
              </a:ext>
            </a:extLst>
          </p:cNvPr>
          <p:cNvSpPr txBox="1"/>
          <p:nvPr/>
        </p:nvSpPr>
        <p:spPr>
          <a:xfrm>
            <a:off x="402671" y="83782"/>
            <a:ext cx="385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7.trend_festival_app</a:t>
            </a:r>
            <a:r>
              <a:rPr lang="en-US" altLang="ko-KR" b="0" dirty="0">
                <a:effectLst/>
                <a:latin typeface="+mn-ea"/>
              </a:rPr>
              <a:t>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10C1AF-B72B-4B2C-8AD0-AAF997685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" y="547687"/>
            <a:ext cx="5780015" cy="29116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31ED91-62F2-430B-BFDC-685114DB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71" y="3553925"/>
            <a:ext cx="5780015" cy="29409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237A1BB-6424-452C-ACE2-E3E3F1F42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634" y="1106401"/>
            <a:ext cx="5631241" cy="184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26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A921DD-349F-401B-98D3-D74E58C44971}"/>
              </a:ext>
            </a:extLst>
          </p:cNvPr>
          <p:cNvSpPr txBox="1"/>
          <p:nvPr/>
        </p:nvSpPr>
        <p:spPr>
          <a:xfrm>
            <a:off x="402671" y="83782"/>
            <a:ext cx="385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+mn-ea"/>
              </a:rPr>
              <a:t>Streamlit</a:t>
            </a:r>
            <a:r>
              <a:rPr lang="ko-KR" altLang="en-US" dirty="0">
                <a:latin typeface="+mn-ea"/>
              </a:rPr>
              <a:t> 실행 결과</a:t>
            </a:r>
            <a:endParaRPr lang="en-US" altLang="ko-KR" b="0" dirty="0">
              <a:effectLst/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615167-F339-450E-8304-638A81CD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" y="511838"/>
            <a:ext cx="5702231" cy="25967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62104D-5FB7-46C7-9B23-6D7C004A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31" y="3549239"/>
            <a:ext cx="5684169" cy="25967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5B25D0B-4318-4EB3-BA8A-C3F927A22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425" y="482732"/>
            <a:ext cx="5090272" cy="29662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90B6CD-2C83-4CEF-B4C9-4A289A9EC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464" y="3624741"/>
            <a:ext cx="5992536" cy="23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7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99CF10-5B73-4A40-A912-0949E9A1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368" y="213669"/>
            <a:ext cx="6149132" cy="35321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C5FAAB-7329-4EF0-96B6-667FABEC82D5}"/>
              </a:ext>
            </a:extLst>
          </p:cNvPr>
          <p:cNvSpPr txBox="1"/>
          <p:nvPr/>
        </p:nvSpPr>
        <p:spPr>
          <a:xfrm>
            <a:off x="343948" y="3867325"/>
            <a:ext cx="11283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느낀 점</a:t>
            </a:r>
            <a:r>
              <a:rPr lang="en-US" altLang="ko-KR" sz="1600" dirty="0">
                <a:latin typeface="+mn-ea"/>
              </a:rPr>
              <a:t>:</a:t>
            </a:r>
            <a:r>
              <a:rPr lang="ko-KR" altLang="en-US" sz="1600" dirty="0">
                <a:latin typeface="+mn-ea"/>
              </a:rPr>
              <a:t>  </a:t>
            </a:r>
            <a:r>
              <a:rPr lang="en-US" altLang="ko-KR" sz="1600" dirty="0" err="1">
                <a:latin typeface="+mn-ea"/>
              </a:rPr>
              <a:t>Streamlit</a:t>
            </a:r>
            <a:r>
              <a:rPr lang="ko-KR" altLang="en-US" sz="1600" dirty="0">
                <a:latin typeface="+mn-ea"/>
              </a:rPr>
              <a:t>을 활용하면서 별도의 프론트 개발 없이 파이썬 언어로만 데이터 시각화로 하고</a:t>
            </a:r>
            <a:r>
              <a:rPr lang="en-US" altLang="ko-KR" sz="1600" dirty="0">
                <a:latin typeface="+mn-ea"/>
              </a:rPr>
              <a:t>,</a:t>
            </a:r>
          </a:p>
          <a:p>
            <a:r>
              <a:rPr lang="ko-KR" altLang="en-US" sz="1600" dirty="0">
                <a:latin typeface="+mn-ea"/>
              </a:rPr>
              <a:t>대시보드로 빠르게 구축할 수 있어 개발 생산성이 극대화됨을 느꼈습니다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특히 다양한 위젯과 차트 라이브러리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덕분에 프로토타입을 신속하게 검증할 수 있었습니다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68695-9B3B-44C6-B7D9-7A060D541DC8}"/>
              </a:ext>
            </a:extLst>
          </p:cNvPr>
          <p:cNvSpPr txBox="1"/>
          <p:nvPr/>
        </p:nvSpPr>
        <p:spPr>
          <a:xfrm>
            <a:off x="343948" y="5100506"/>
            <a:ext cx="112831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</a:rPr>
              <a:t>개선할 점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대용량의 데이터를 다루다 보니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Streamlit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특유의 동작 방식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코드 전체를 위에서 아래로 다시 실행하는 구조</a:t>
            </a:r>
            <a:r>
              <a:rPr lang="en-US" altLang="ko-KR" sz="1600" dirty="0">
                <a:latin typeface="+mn-ea"/>
              </a:rPr>
              <a:t>)</a:t>
            </a:r>
          </a:p>
          <a:p>
            <a:r>
              <a:rPr lang="ko-KR" altLang="en-US" sz="1600" dirty="0" err="1">
                <a:latin typeface="+mn-ea"/>
              </a:rPr>
              <a:t>으로</a:t>
            </a:r>
            <a:r>
              <a:rPr lang="ko-KR" altLang="en-US" sz="1600" dirty="0">
                <a:latin typeface="+mn-ea"/>
              </a:rPr>
              <a:t> 인해 사용자가 위젯을 조작할 때마다 화면이 약간 느리거나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새로고침</a:t>
            </a:r>
            <a:r>
              <a:rPr lang="ko-KR" altLang="en-US" sz="1600" dirty="0">
                <a:latin typeface="+mn-ea"/>
              </a:rPr>
              <a:t> 시 </a:t>
            </a:r>
            <a:r>
              <a:rPr lang="ko-KR" altLang="en-US" sz="1600" dirty="0" err="1">
                <a:latin typeface="+mn-ea"/>
              </a:rPr>
              <a:t>랜더링</a:t>
            </a:r>
            <a:r>
              <a:rPr lang="ko-KR" altLang="en-US" sz="1600" dirty="0">
                <a:latin typeface="+mn-ea"/>
              </a:rPr>
              <a:t> 지연이 발생하는 성능적 한계를 경험했습니다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r>
              <a:rPr lang="en-US" altLang="ko-KR" sz="1600" dirty="0">
                <a:latin typeface="+mn-ea"/>
              </a:rPr>
              <a:t>DB</a:t>
            </a:r>
            <a:r>
              <a:rPr lang="ko-KR" altLang="en-US" sz="1600" dirty="0">
                <a:latin typeface="+mn-ea"/>
              </a:rPr>
              <a:t>에서 미리 필요한 형태로 집계 및 </a:t>
            </a:r>
            <a:r>
              <a:rPr lang="ko-KR" altLang="en-US" sz="1600" dirty="0" err="1">
                <a:latin typeface="+mn-ea"/>
              </a:rPr>
              <a:t>경량화하여</a:t>
            </a:r>
            <a:r>
              <a:rPr lang="ko-KR" altLang="en-US" sz="1600" dirty="0">
                <a:latin typeface="+mn-ea"/>
              </a:rPr>
              <a:t> 필요한 데이터만 시스템에 호출하여 아키텍처를 개선할 필요성을 느꼈습니다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227</Words>
  <Application>Microsoft Office PowerPoint</Application>
  <PresentationFormat>와이드스크린</PresentationFormat>
  <Paragraphs>24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31</cp:revision>
  <dcterms:created xsi:type="dcterms:W3CDTF">2026-03-10T17:23:29Z</dcterms:created>
  <dcterms:modified xsi:type="dcterms:W3CDTF">2026-08-11T06:13:57Z</dcterms:modified>
</cp:coreProperties>
</file>