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9" r:id="rId5"/>
    <p:sldId id="260" r:id="rId6"/>
    <p:sldId id="263" r:id="rId7"/>
    <p:sldId id="265" r:id="rId8"/>
    <p:sldId id="261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6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ko-KR" altLang="en-US" dirty="0" err="1"/>
              <a:t>장호균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dirty="0"/>
              <a:t>20260811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b="0" i="0" dirty="0">
                <a:effectLst/>
                <a:latin typeface="Mona Sans VF"/>
              </a:rPr>
              <a:t>hokyun015523-png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2070205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소개</a:t>
            </a:r>
            <a:endParaRPr 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E00C47-A34D-4B13-828A-6037D708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3" y="632010"/>
            <a:ext cx="8202705" cy="36576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309282" y="4840941"/>
            <a:ext cx="11158818" cy="153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조 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: </a:t>
            </a:r>
            <a:r>
              <a:rPr lang="ko-KR" altLang="en-US" sz="1600" dirty="0" err="1">
                <a:latin typeface="맑은 고딕" pitchFamily="34" charset="0"/>
                <a:ea typeface="맑은 고딕" pitchFamily="34" charset="-122"/>
              </a:rPr>
              <a:t>빅데이터분석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 플랫폼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1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조</a:t>
            </a: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조원 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: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김나현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김시현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 err="1">
                <a:latin typeface="맑은 고딕" pitchFamily="34" charset="0"/>
                <a:ea typeface="맑은 고딕" pitchFamily="34" charset="-122"/>
              </a:rPr>
              <a:t>장호균</a:t>
            </a: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전국 문화축제 데이터를 바탕으로 지자체 공무원 및 기획자가 축제 인프라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행사기간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대중교통 접근성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온라인 홍보 등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)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에 따른 효과를 과학적으로 검토하고 기획 성공 가능성을 극대화할 수 있는 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Web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 기반 의사결정 지원 플랫폼입니다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.</a:t>
            </a:r>
          </a:p>
          <a:p>
            <a:pPr marL="0" indent="0">
              <a:buNone/>
            </a:pPr>
            <a:endParaRPr lang="en-US" sz="16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/>
          <p:nvPr/>
        </p:nvCxnSpPr>
        <p:spPr>
          <a:xfrm>
            <a:off x="309282" y="4531659"/>
            <a:ext cx="11551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4250967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스트림릿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웹 주요 구성 및 기능</a:t>
            </a:r>
            <a:endParaRPr lang="en-US" sz="2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309282" y="4814914"/>
            <a:ext cx="11158818" cy="763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altLang="ko-KR" sz="1600" dirty="0" err="1"/>
              <a:t>Streamlit</a:t>
            </a:r>
            <a:r>
              <a:rPr lang="ko-KR" altLang="en-US" sz="1600" dirty="0"/>
              <a:t> 문법으로 구성 되어있으며</a:t>
            </a:r>
            <a:r>
              <a:rPr lang="en-US" altLang="ko-KR" sz="1600" dirty="0"/>
              <a:t> ‘</a:t>
            </a:r>
            <a:r>
              <a:rPr lang="en-US" altLang="ko-KR" sz="1600" dirty="0" err="1"/>
              <a:t>st.Page</a:t>
            </a:r>
            <a:r>
              <a:rPr lang="en-US" altLang="ko-KR" sz="1600" dirty="0"/>
              <a:t>’, ‘</a:t>
            </a:r>
            <a:r>
              <a:rPr lang="en-US" altLang="ko-KR" sz="1600" dirty="0" err="1"/>
              <a:t>st.navigation</a:t>
            </a:r>
            <a:r>
              <a:rPr lang="en-US" altLang="ko-KR" sz="1600" dirty="0"/>
              <a:t>’</a:t>
            </a:r>
            <a:r>
              <a:rPr lang="ko-KR" altLang="en-US" sz="1600" dirty="0"/>
              <a:t>을</a:t>
            </a:r>
            <a:r>
              <a:rPr lang="en-US" altLang="ko-KR" sz="1600" dirty="0"/>
              <a:t> </a:t>
            </a:r>
            <a:r>
              <a:rPr lang="ko-KR" altLang="en-US" sz="1600" dirty="0"/>
              <a:t>통해 왼쪽 사이드바 메뉴판으로 적용하였습니다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/>
          <p:nvPr/>
        </p:nvCxnSpPr>
        <p:spPr>
          <a:xfrm>
            <a:off x="309282" y="4693891"/>
            <a:ext cx="11551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7EAF846-1CF5-47E5-B190-3425E25AF5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722" b="50094"/>
          <a:stretch/>
        </p:blipFill>
        <p:spPr>
          <a:xfrm>
            <a:off x="751734" y="752554"/>
            <a:ext cx="3661240" cy="332316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A9B2ABE-5630-4422-BCAA-BA3036143838}"/>
              </a:ext>
            </a:extLst>
          </p:cNvPr>
          <p:cNvSpPr/>
          <p:nvPr/>
        </p:nvSpPr>
        <p:spPr>
          <a:xfrm>
            <a:off x="589184" y="686145"/>
            <a:ext cx="3986339" cy="34559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6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4250967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스트림릿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웹 주요 구성 및 기능</a:t>
            </a:r>
            <a:endParaRPr lang="en-US" sz="2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309282" y="4840941"/>
            <a:ext cx="11158818" cy="153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/>
          <p:nvPr/>
        </p:nvCxnSpPr>
        <p:spPr>
          <a:xfrm>
            <a:off x="309282" y="4531659"/>
            <a:ext cx="11551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7EAF846-1CF5-47E5-B190-3425E25AF5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462" t="10262" r="4897" b="19873"/>
          <a:stretch/>
        </p:blipFill>
        <p:spPr>
          <a:xfrm>
            <a:off x="390396" y="975776"/>
            <a:ext cx="5471653" cy="25991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A9B2ABE-5630-4422-BCAA-BA3036143838}"/>
              </a:ext>
            </a:extLst>
          </p:cNvPr>
          <p:cNvSpPr/>
          <p:nvPr/>
        </p:nvSpPr>
        <p:spPr>
          <a:xfrm>
            <a:off x="324029" y="821136"/>
            <a:ext cx="5604388" cy="2908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95F105ED-562D-48E0-BA11-5B87ECEDB61C}"/>
              </a:ext>
            </a:extLst>
          </p:cNvPr>
          <p:cNvSpPr/>
          <p:nvPr/>
        </p:nvSpPr>
        <p:spPr>
          <a:xfrm>
            <a:off x="309282" y="4814914"/>
            <a:ext cx="11158818" cy="153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방문객 수 예측 페이지</a:t>
            </a: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&lt;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지역 축제 방문객 수 예측 시스템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&gt;</a:t>
            </a: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기획 중인  축제의 행사기간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버스정류장수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지하철 유무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SNS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및 홈페이지 유무를 </a:t>
            </a:r>
            <a:r>
              <a:rPr lang="ko-KR" altLang="en-US" sz="1600" dirty="0" err="1">
                <a:latin typeface="맑은 고딕" pitchFamily="34" charset="0"/>
                <a:ea typeface="맑은 고딕" pitchFamily="34" charset="-122"/>
              </a:rPr>
              <a:t>입력받아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 학습된 파이프라인 모델을 실시간 </a:t>
            </a:r>
            <a:r>
              <a:rPr lang="ko-KR" altLang="en-US" sz="1600" dirty="0" err="1">
                <a:latin typeface="맑은 고딕" pitchFamily="34" charset="0"/>
                <a:ea typeface="맑은 고딕" pitchFamily="34" charset="-122"/>
              </a:rPr>
              <a:t>로드하여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 예상 유입 규모를 예측 시뮬레이션 합니다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017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4448093" cy="753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스트림릿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웹 주요 구성 및 기능</a:t>
            </a:r>
            <a:endParaRPr lang="en-US" altLang="ko-KR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309282" y="4840941"/>
            <a:ext cx="10294808" cy="153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전국 문화축제 행사 빠른 검색 페이지</a:t>
            </a: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&lt;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전국 문화축제 행사 및 개최장소 검색 툴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&gt;</a:t>
            </a: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: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원본 축제 데이터 셋에서 키워드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sz="1600" dirty="0" err="1">
                <a:latin typeface="맑은 고딕" pitchFamily="34" charset="0"/>
                <a:ea typeface="맑은 고딕" pitchFamily="34" charset="-122"/>
              </a:rPr>
              <a:t>축제명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장소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)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를 기반으로 실제 전국 성공 사례를 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1</a:t>
            </a:r>
            <a:r>
              <a:rPr lang="ko-KR" altLang="en-US" sz="1600" dirty="0" err="1">
                <a:latin typeface="맑은 고딕" pitchFamily="34" charset="0"/>
                <a:ea typeface="맑은 고딕" pitchFamily="34" charset="-122"/>
              </a:rPr>
              <a:t>초만에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 </a:t>
            </a: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필터링 조회 및 검색된 축제들의 평균 행사기간을 동적으로 연산하여 기획가이드 팁을 실시간을 제공합니다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.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/>
          <p:nvPr/>
        </p:nvCxnSpPr>
        <p:spPr>
          <a:xfrm>
            <a:off x="309282" y="4531659"/>
            <a:ext cx="11551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CE0C5FD-2212-4E95-8EB3-A0C3B907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85" y="639528"/>
            <a:ext cx="6908969" cy="35828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560A0A8-6A33-4029-B3CF-B6246F535638}"/>
              </a:ext>
            </a:extLst>
          </p:cNvPr>
          <p:cNvSpPr/>
          <p:nvPr/>
        </p:nvSpPr>
        <p:spPr>
          <a:xfrm>
            <a:off x="347237" y="580390"/>
            <a:ext cx="7020666" cy="37170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3602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4250967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스트림릿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웹 주요 구성 및 기능</a:t>
            </a:r>
            <a:endParaRPr lang="en-US" sz="2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309282" y="4840941"/>
            <a:ext cx="10973234" cy="153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전국 문화축제 행사 상세검색 페이지</a:t>
            </a: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&lt;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문화축제 검색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-</a:t>
            </a:r>
            <a:r>
              <a:rPr lang="en-US" altLang="ko-KR" sz="1600" dirty="0" err="1">
                <a:latin typeface="맑은 고딕" pitchFamily="34" charset="0"/>
                <a:ea typeface="맑은 고딕" pitchFamily="34" charset="-122"/>
              </a:rPr>
              <a:t>st.form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위젯 사용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&gt;</a:t>
            </a:r>
          </a:p>
          <a:p>
            <a:pPr marL="0" indent="0">
              <a:buNone/>
            </a:pPr>
            <a:endParaRPr lang="en-US" altLang="ko-KR" sz="1600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sz="1600" dirty="0">
                <a:latin typeface="맑은 고딕" pitchFamily="34" charset="0"/>
                <a:ea typeface="맑은 고딕" pitchFamily="34" charset="-122"/>
              </a:rPr>
              <a:t>: </a:t>
            </a:r>
            <a:r>
              <a:rPr lang="ko-KR" altLang="en-US" sz="1600" dirty="0">
                <a:latin typeface="맑은 고딕" pitchFamily="34" charset="0"/>
                <a:ea typeface="맑은 고딕" pitchFamily="34" charset="-122"/>
              </a:rPr>
              <a:t>다각도의 세부 필터링 조건을 결합하여 타 지자체의 성공적인 축제 네이밍 및 최적의 개최 장소 인프라를 확인합니다</a:t>
            </a:r>
            <a:r>
              <a:rPr lang="en-US" altLang="ko-KR" sz="1600" dirty="0">
                <a:latin typeface="맑은 고딕" pitchFamily="34" charset="0"/>
                <a:ea typeface="맑은 고딕" pitchFamily="34" charset="-122"/>
              </a:rPr>
              <a:t>.</a:t>
            </a:r>
            <a:endParaRPr lang="en-US" sz="16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/>
          <p:nvPr/>
        </p:nvCxnSpPr>
        <p:spPr>
          <a:xfrm>
            <a:off x="309282" y="4531659"/>
            <a:ext cx="11551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9B2ABE-5630-4422-BCAA-BA3036143838}"/>
              </a:ext>
            </a:extLst>
          </p:cNvPr>
          <p:cNvSpPr/>
          <p:nvPr/>
        </p:nvSpPr>
        <p:spPr>
          <a:xfrm>
            <a:off x="294534" y="580390"/>
            <a:ext cx="6687744" cy="38441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C7BF955-5AF6-4E1F-A02E-019B5B870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37" y="638941"/>
            <a:ext cx="6510763" cy="358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8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4250967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스트림릿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웹 주요 구성 및 기능</a:t>
            </a:r>
            <a:endParaRPr lang="en-US" sz="2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294533" y="4422052"/>
            <a:ext cx="11551024" cy="192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dirty="0"/>
              <a:t>기타</a:t>
            </a:r>
            <a:endParaRPr lang="en-US" altLang="ko-KR" sz="1700" dirty="0"/>
          </a:p>
          <a:p>
            <a:pPr marL="0" indent="0">
              <a:buNone/>
            </a:pPr>
            <a:r>
              <a:rPr lang="en-US" sz="1700" dirty="0"/>
              <a:t>&lt;</a:t>
            </a:r>
            <a:r>
              <a:rPr lang="ko-KR" altLang="en-US" sz="1700" dirty="0"/>
              <a:t>기간 및 대중교통 인프라 추이 페이지</a:t>
            </a:r>
            <a:r>
              <a:rPr lang="en-US" sz="1700" dirty="0"/>
              <a:t>&gt;</a:t>
            </a:r>
          </a:p>
          <a:p>
            <a:pPr marL="0" indent="0">
              <a:buNone/>
            </a:pPr>
            <a:r>
              <a:rPr lang="ko-KR" altLang="en-US" sz="1700" dirty="0"/>
              <a:t>행사 기간의 볼륨 및 주변 교통환경이 관람객 유치에 미치는 추이와 인사이트 통계 분석 리포트를 시각적으로 제공합니다</a:t>
            </a:r>
            <a:r>
              <a:rPr lang="en-US" altLang="ko-KR" sz="1700" dirty="0"/>
              <a:t>.</a:t>
            </a:r>
            <a:endParaRPr lang="en-US" sz="1700" dirty="0"/>
          </a:p>
          <a:p>
            <a:pPr marL="342900" indent="-342900">
              <a:buAutoNum type="arabicPeriod"/>
            </a:pPr>
            <a:r>
              <a:rPr lang="ko-KR" altLang="en-US" sz="1700" dirty="0"/>
              <a:t>전체 축제</a:t>
            </a:r>
            <a:r>
              <a:rPr lang="en-US" altLang="ko-KR" sz="1700" dirty="0"/>
              <a:t>, 2. </a:t>
            </a:r>
            <a:r>
              <a:rPr lang="ko-KR" altLang="en-US" sz="1700" dirty="0"/>
              <a:t>지하철 연계 축제만</a:t>
            </a:r>
            <a:r>
              <a:rPr lang="en-US" altLang="ko-KR" sz="1700" dirty="0"/>
              <a:t>, 3. </a:t>
            </a:r>
            <a:r>
              <a:rPr lang="ko-KR" altLang="en-US" sz="1700" dirty="0"/>
              <a:t>인근 버스정류장 다수로 </a:t>
            </a:r>
            <a:r>
              <a:rPr lang="ko-KR" altLang="en-US" sz="1700" dirty="0" err="1"/>
              <a:t>구성되어있습니다</a:t>
            </a:r>
            <a:r>
              <a:rPr lang="en-US" altLang="ko-KR" sz="1700" dirty="0"/>
              <a:t>.</a:t>
            </a:r>
          </a:p>
          <a:p>
            <a:r>
              <a:rPr lang="ko-KR" altLang="en-US" sz="1700" dirty="0"/>
              <a:t>하단에는 광역시도별 평균 축제 방문객수와 주요 </a:t>
            </a:r>
            <a:r>
              <a:rPr lang="ko-KR" altLang="en-US" sz="1700" dirty="0" err="1"/>
              <a:t>축제별</a:t>
            </a:r>
            <a:r>
              <a:rPr lang="ko-KR" altLang="en-US" sz="1700" dirty="0"/>
              <a:t> 방문객 직접 선택하여 비교할 수 있는 사용자 선택형 동적 시각화 대시보드 차트도 활성화 하였습니다</a:t>
            </a:r>
            <a:r>
              <a:rPr lang="en-US" altLang="ko-KR" sz="1700" dirty="0"/>
              <a:t>.</a:t>
            </a:r>
            <a:r>
              <a:rPr lang="ko-KR" altLang="en-US" sz="1700" dirty="0"/>
              <a:t> </a:t>
            </a:r>
            <a:endParaRPr lang="en-US" sz="17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/>
          <p:nvPr/>
        </p:nvCxnSpPr>
        <p:spPr>
          <a:xfrm>
            <a:off x="309282" y="4531659"/>
            <a:ext cx="11551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9B2ABE-5630-4422-BCAA-BA3036143838}"/>
              </a:ext>
            </a:extLst>
          </p:cNvPr>
          <p:cNvSpPr/>
          <p:nvPr/>
        </p:nvSpPr>
        <p:spPr>
          <a:xfrm>
            <a:off x="294533" y="580390"/>
            <a:ext cx="7846577" cy="3841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DF16B6-F4C6-4E99-A0D7-10F76C0D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6" y="885434"/>
            <a:ext cx="7574315" cy="33736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973A95-B462-4381-85BD-88EE9439F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130" y="907522"/>
            <a:ext cx="2379406" cy="11406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D2D0F29-173F-46F5-B620-CC40F53E7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472" y="2837691"/>
            <a:ext cx="2379407" cy="113664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2CB76D2B-621E-4476-8EA4-9EC35E4CF433}"/>
              </a:ext>
            </a:extLst>
          </p:cNvPr>
          <p:cNvSpPr/>
          <p:nvPr/>
        </p:nvSpPr>
        <p:spPr>
          <a:xfrm>
            <a:off x="204854" y="537882"/>
            <a:ext cx="4676861" cy="337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latin typeface="맑은 고딕" pitchFamily="34" charset="0"/>
                <a:ea typeface="맑은 고딕" pitchFamily="34" charset="-122"/>
              </a:rPr>
              <a:t>① 전체 축제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721D3F-2104-4F9C-96B3-E1FA91442308}"/>
              </a:ext>
            </a:extLst>
          </p:cNvPr>
          <p:cNvSpPr txBox="1"/>
          <p:nvPr/>
        </p:nvSpPr>
        <p:spPr>
          <a:xfrm>
            <a:off x="9116130" y="564093"/>
            <a:ext cx="2148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" pitchFamily="34" charset="0"/>
                <a:ea typeface="맑은 고딕" pitchFamily="34" charset="-122"/>
              </a:rPr>
              <a:t>② 지하철 연계축제만</a:t>
            </a:r>
            <a:r>
              <a:rPr lang="en-US" altLang="ko-KR" sz="1200" dirty="0">
                <a:latin typeface="맑은 고딕" pitchFamily="34" charset="0"/>
                <a:ea typeface="맑은 고딕" pitchFamily="34" charset="-122"/>
              </a:rPr>
              <a:t>(Y)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5B60CD-DD20-414B-92D2-8482D8D8F4CC}"/>
              </a:ext>
            </a:extLst>
          </p:cNvPr>
          <p:cNvSpPr txBox="1"/>
          <p:nvPr/>
        </p:nvSpPr>
        <p:spPr>
          <a:xfrm>
            <a:off x="9021755" y="2464048"/>
            <a:ext cx="2568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" pitchFamily="34" charset="0"/>
                <a:ea typeface="맑은 고딕" pitchFamily="34" charset="-122"/>
              </a:rPr>
              <a:t>③ 인근 버스정류장다수</a:t>
            </a:r>
            <a:r>
              <a:rPr lang="en-US" altLang="ko-KR" sz="1200" dirty="0">
                <a:latin typeface="맑은 고딕" pitchFamily="34" charset="0"/>
                <a:ea typeface="맑은 고딕" pitchFamily="34" charset="-122"/>
              </a:rPr>
              <a:t>(5</a:t>
            </a:r>
            <a:r>
              <a:rPr lang="ko-KR" altLang="en-US" sz="1200" dirty="0">
                <a:latin typeface="맑은 고딕" pitchFamily="34" charset="0"/>
                <a:ea typeface="맑은 고딕" pitchFamily="34" charset="-122"/>
              </a:rPr>
              <a:t>개 이상</a:t>
            </a:r>
            <a:endParaRPr lang="en-US" altLang="ko-KR" sz="1200" dirty="0">
              <a:latin typeface="맑은 고딕" pitchFamily="34" charset="0"/>
              <a:ea typeface="맑은 고딕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216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2070205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pipeline</a:t>
            </a:r>
            <a:endParaRPr lang="en-US" sz="2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FEE6E8-249F-4275-B489-1C5BF2118341}"/>
              </a:ext>
            </a:extLst>
          </p:cNvPr>
          <p:cNvSpPr/>
          <p:nvPr/>
        </p:nvSpPr>
        <p:spPr>
          <a:xfrm>
            <a:off x="7899789" y="1255564"/>
            <a:ext cx="4292211" cy="464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웹</a:t>
            </a: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화면 구동과 철저히 분리되어 </a:t>
            </a:r>
            <a:r>
              <a:rPr lang="ko-KR" altLang="en-US" dirty="0" err="1">
                <a:latin typeface="맑은 고딕" pitchFamily="34" charset="0"/>
                <a:ea typeface="맑은 고딕" pitchFamily="34" charset="-122"/>
              </a:rPr>
              <a:t>백엔드</a:t>
            </a: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메모리 상</a:t>
            </a: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)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에서 데이터 가공 및 모델 </a:t>
            </a:r>
            <a:r>
              <a:rPr lang="ko-KR" altLang="en-US" dirty="0" err="1">
                <a:latin typeface="맑은 고딕" pitchFamily="34" charset="0"/>
                <a:ea typeface="맑은 고딕" pitchFamily="34" charset="-122"/>
              </a:rPr>
              <a:t>성늘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 평가를 수행하는 청정 파이프라인을 작성 하였습니다</a:t>
            </a: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.</a:t>
            </a:r>
          </a:p>
          <a:p>
            <a:pPr marL="0" indent="0">
              <a:buNone/>
            </a:pPr>
            <a:endParaRPr lang="en-US" dirty="0">
              <a:latin typeface="맑은 고딕" pitchFamily="34" charset="0"/>
              <a:ea typeface="맑은 고딕" pitchFamily="34" charset="-122"/>
            </a:endParaRPr>
          </a:p>
          <a:p>
            <a:pPr marL="0" indent="0">
              <a:buNone/>
            </a:pP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*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명시적특성 분리 및 </a:t>
            </a:r>
            <a:r>
              <a:rPr lang="ko-KR" altLang="en-US" dirty="0" err="1">
                <a:latin typeface="맑은 고딕" pitchFamily="34" charset="0"/>
                <a:ea typeface="맑은 고딕" pitchFamily="34" charset="-122"/>
              </a:rPr>
              <a:t>전처리</a:t>
            </a:r>
            <a:endParaRPr lang="en-US" altLang="ko-KR" dirty="0">
              <a:latin typeface="맑은 고딕" pitchFamily="34" charset="0"/>
              <a:ea typeface="맑은 고딕" pitchFamily="34" charset="-12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숫자형 특성 처리 파이프라인</a:t>
            </a:r>
            <a:endParaRPr lang="en-US" altLang="ko-KR" dirty="0">
              <a:latin typeface="맑은 고딕" pitchFamily="34" charset="0"/>
              <a:ea typeface="맑은 고딕" pitchFamily="34" charset="-12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범주형 특성 처리 파이프라인</a:t>
            </a:r>
            <a:endParaRPr lang="en-US" altLang="ko-KR" dirty="0">
              <a:latin typeface="맑은 고딕" pitchFamily="34" charset="0"/>
              <a:ea typeface="맑은 고딕" pitchFamily="34" charset="-122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맑은 고딕" pitchFamily="34" charset="0"/>
              <a:ea typeface="맑은 고딕" pitchFamily="34" charset="-122"/>
            </a:endParaRPr>
          </a:p>
          <a:p>
            <a:r>
              <a:rPr lang="en-US" dirty="0">
                <a:latin typeface="맑은 고딕" pitchFamily="34" charset="0"/>
                <a:ea typeface="맑은 고딕" pitchFamily="34" charset="-122"/>
              </a:rPr>
              <a:t>*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임계치 기준 최종 분류 및 평가</a:t>
            </a:r>
            <a:endParaRPr lang="en-US" altLang="ko-KR" dirty="0">
              <a:latin typeface="맑은 고딕" pitchFamily="34" charset="0"/>
              <a:ea typeface="맑은 고딕" pitchFamily="34" charset="-122"/>
            </a:endParaRPr>
          </a:p>
          <a:p>
            <a:endParaRPr lang="en-US" altLang="ko-KR" dirty="0">
              <a:latin typeface="맑은 고딕" pitchFamily="34" charset="0"/>
              <a:ea typeface="맑은 고딕" pitchFamily="34" charset="-122"/>
            </a:endParaRPr>
          </a:p>
          <a:p>
            <a:r>
              <a:rPr lang="en-US" dirty="0">
                <a:latin typeface="맑은 고딕" pitchFamily="34" charset="0"/>
                <a:ea typeface="맑은 고딕" pitchFamily="34" charset="-122"/>
              </a:rPr>
              <a:t>*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핵심 자료 파일 자동 저장</a:t>
            </a: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dirty="0">
                <a:latin typeface="맑은 고딕" pitchFamily="34" charset="0"/>
                <a:ea typeface="맑은 고딕" pitchFamily="34" charset="-122"/>
              </a:rPr>
              <a:t>하단 폴더 바로 아래 생성</a:t>
            </a:r>
            <a:r>
              <a:rPr lang="en-US" altLang="ko-KR" dirty="0">
                <a:latin typeface="맑은 고딕" pitchFamily="34" charset="0"/>
                <a:ea typeface="맑은 고딕" pitchFamily="34" charset="-122"/>
              </a:rPr>
              <a:t>)</a:t>
            </a:r>
          </a:p>
          <a:p>
            <a:endParaRPr lang="en-US" sz="16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9CD58B-95DA-49D5-9425-26846C8758B2}"/>
              </a:ext>
            </a:extLst>
          </p:cNvPr>
          <p:cNvCxnSpPr>
            <a:cxnSpLocks/>
          </p:cNvCxnSpPr>
          <p:nvPr/>
        </p:nvCxnSpPr>
        <p:spPr>
          <a:xfrm>
            <a:off x="7600516" y="694909"/>
            <a:ext cx="0" cy="5053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6F834AC5-0F96-43C2-83F9-EC124A645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42" y="628324"/>
            <a:ext cx="3650439" cy="27874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221AD7-1C74-40A1-9F64-FFFBA1AB9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764" y="641556"/>
            <a:ext cx="3064761" cy="3429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3FC1DB-AF73-45D8-AE1C-CDE26B9FC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94" y="3642125"/>
            <a:ext cx="2856529" cy="278744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8308261-E496-4A0C-8A80-188735DF0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357" y="4428642"/>
            <a:ext cx="3338828" cy="13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9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4EAB4-8A41-4F51-9E6B-5312D7265CC1}"/>
              </a:ext>
            </a:extLst>
          </p:cNvPr>
          <p:cNvSpPr/>
          <p:nvPr/>
        </p:nvSpPr>
        <p:spPr>
          <a:xfrm>
            <a:off x="0" y="1"/>
            <a:ext cx="12192000" cy="53788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72F88-2D0F-4993-AE9C-01BADE636B4C}"/>
              </a:ext>
            </a:extLst>
          </p:cNvPr>
          <p:cNvSpPr/>
          <p:nvPr/>
        </p:nvSpPr>
        <p:spPr>
          <a:xfrm>
            <a:off x="162007" y="94129"/>
            <a:ext cx="4200443" cy="44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프로젝트 시작 가이드</a:t>
            </a:r>
            <a:endParaRPr 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ABB507-D1B9-467F-BC82-8A26BEA08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57" y="632010"/>
            <a:ext cx="11634085" cy="575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00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450</Words>
  <Application>Microsoft Office PowerPoint</Application>
  <PresentationFormat>와이드스크린</PresentationFormat>
  <Paragraphs>61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Mona Sans VF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31</cp:revision>
  <dcterms:created xsi:type="dcterms:W3CDTF">2026-03-10T17:23:29Z</dcterms:created>
  <dcterms:modified xsi:type="dcterms:W3CDTF">2026-08-11T07:15:08Z</dcterms:modified>
</cp:coreProperties>
</file>