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6858000" cy="9144000"/>
  <p:embeddedFontLst>
    <p:embeddedFont>
      <p:font typeface="Gong Gothic Light" panose="020B0600000101010101" charset="-127"/>
      <p:regular r:id="rId15"/>
    </p:embeddedFont>
    <p:embeddedFont>
      <p:font typeface="Gong Gothic Medium" panose="020B0600000101010101" charset="-127"/>
      <p:bold r:id="rId16"/>
    </p:embeddedFont>
    <p:embeddedFont>
      <p:font typeface="Pretendard Light" panose="020B0600000101010101" charset="-127"/>
      <p:regular r:id="rId17"/>
    </p:embeddedFont>
    <p:embeddedFont>
      <p:font typeface="Pretendard Regular" panose="020B0600000101010101" charset="-127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ontserrat Bold" panose="020B0600000101010101" charset="0"/>
      <p:bold r:id="rId23"/>
    </p:embeddedFont>
    <p:embeddedFont>
      <p:font typeface="Montserrat Regular" panose="020B0600000101010101" charset="0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1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0CE5E-612E-4ADF-BD92-4C596A365E2E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35F32-9E94-4A75-AB22-85A6A0E884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5250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Relationship Id="rId9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41.png"/><Relationship Id="rId4" Type="http://schemas.openxmlformats.org/officeDocument/2006/relationships/image" Target="../media/image15.png"/><Relationship Id="rId9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44.png"/><Relationship Id="rId9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8.png"/><Relationship Id="rId7" Type="http://schemas.openxmlformats.org/officeDocument/2006/relationships/image" Target="../media/image3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4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20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5.png"/><Relationship Id="rId7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762000"/>
            <a:ext cx="18046700" cy="12204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5113000" y="10604500"/>
            <a:ext cx="2908300" cy="76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10680700"/>
            <a:ext cx="8280400" cy="2273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0" y="10680700"/>
            <a:ext cx="8280400" cy="2273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4500" y="8572500"/>
            <a:ext cx="1752600" cy="825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>
            <a:alphaModFix amt="51000"/>
          </a:blip>
          <a:stretch>
            <a:fillRect/>
          </a:stretch>
        </p:blipFill>
        <p:spPr>
          <a:xfrm>
            <a:off x="16040100" y="11645900"/>
            <a:ext cx="990600" cy="990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>
            <a:alphaModFix amt="51000"/>
          </a:blip>
          <a:stretch>
            <a:fillRect/>
          </a:stretch>
        </p:blipFill>
        <p:spPr>
          <a:xfrm>
            <a:off x="9436100" y="10198100"/>
            <a:ext cx="9906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6300" y="10553700"/>
            <a:ext cx="317500" cy="317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70300" y="11988800"/>
            <a:ext cx="317500" cy="317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413000" y="114681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77100" y="108077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17600" y="118999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32300" y="11798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52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49600" y="8699500"/>
            <a:ext cx="1371600" cy="508000"/>
          </a:xfrm>
          <a:prstGeom prst="rect">
            <a:avLst/>
          </a:prstGeom>
        </p:spPr>
        <p:txBody>
          <a:bodyPr lIns="0" tIns="1693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Medium"/>
                <a:ea typeface="Gong Gothic Medium"/>
                <a:cs typeface="Gong Gothic Medium"/>
              </a:rPr>
              <a:t>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72000" y="12052300"/>
            <a:ext cx="16891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1400" y="107823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F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48800" y="10109200"/>
            <a:ext cx="914400" cy="368300"/>
          </a:xfrm>
          <a:prstGeom prst="rect">
            <a:avLst/>
          </a:prstGeom>
        </p:spPr>
        <p:txBody>
          <a:bodyPr lIns="0" tIns="11854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866" b="0" i="0" u="none" strike="noStrike">
                <a:solidFill>
                  <a:srgbClr val="C2C2C2"/>
                </a:solidFill>
                <a:latin typeface="Gong Gothic Light"/>
                <a:ea typeface="Gong Gothic Light"/>
                <a:cs typeface="Gong Gothic Light"/>
              </a:rPr>
              <a:t>E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443700" y="749300"/>
            <a:ext cx="4330700" cy="122047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37400" y="2667000"/>
            <a:ext cx="3581400" cy="9144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20104100" y="2870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0104100" y="3708400"/>
            <a:ext cx="2971800" cy="1460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김동욱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김수완 </a:t>
            </a:r>
          </a:p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홍은경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50100" y="5397500"/>
            <a:ext cx="3581400" cy="9144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20116800" y="5562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평가일시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0116800" y="645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2026-08-11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93900" y="1892300"/>
            <a:ext cx="16230600" cy="1447800"/>
          </a:xfrm>
          <a:prstGeom prst="rect">
            <a:avLst/>
          </a:prstGeom>
        </p:spPr>
        <p:txBody>
          <a:bodyPr lIns="0" tIns="5080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8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빅데이터 분석 모델링 및 시스템 개발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93900" y="5600700"/>
            <a:ext cx="11112500" cy="596900"/>
          </a:xfrm>
          <a:prstGeom prst="rect">
            <a:avLst/>
          </a:prstGeom>
        </p:spPr>
        <p:txBody>
          <a:bodyPr lIns="0" tIns="2032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OPS 예측 머신러닝 회귀 모델 개발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14600" y="8140700"/>
            <a:ext cx="2603500" cy="317500"/>
          </a:xfrm>
          <a:prstGeom prst="rect">
            <a:avLst/>
          </a:prstGeom>
        </p:spPr>
        <p:txBody>
          <a:bodyPr lIns="0" tIns="1016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1600" b="0" i="0" u="none" strike="noStrike" spc="-100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예측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26300" y="1193800"/>
            <a:ext cx="1104900" cy="11049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12000" y="7264400"/>
            <a:ext cx="3581400" cy="9144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20078700" y="742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branch 이름(영문)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0104100" y="842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3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KimSuWan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3086100" y="7429500"/>
            <a:ext cx="7658100" cy="76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5400000">
            <a:off x="9080500" y="7404100"/>
            <a:ext cx="7645400" cy="76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0200" y="3695700"/>
            <a:ext cx="685800" cy="685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695700"/>
            <a:ext cx="685800" cy="685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75565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2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77900" y="3695700"/>
            <a:ext cx="685800" cy="685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690600" y="3784600"/>
            <a:ext cx="6477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3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78300" y="10058400"/>
            <a:ext cx="1422400" cy="1422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87100" y="10058400"/>
            <a:ext cx="1422400" cy="1422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5054600" y="10058400"/>
            <a:ext cx="1422400" cy="14224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600200" y="47117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문제 정의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60500" y="5562600"/>
            <a:ext cx="4495800" cy="472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OPS는 타자의 공격력을 종합적으로 평가하는 대표적인 지표이다.
하지만 경기 전에는 OPS를 알 수 없으므로, 선수의 기본 타격 기록을 이용하여 OPS를 예측할 수 있는 머신러닝 모델을 개발하고자 한다.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42200" y="5562600"/>
            <a:ext cx="4394200" cy="264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기록을 활용하여 OPS를 예측하고, 어떤 기록이 OPS에 가장 큰 영향을 미치는지 분석한다.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38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 목적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7900" y="4711700"/>
            <a:ext cx="42164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설정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77900" y="5562600"/>
            <a:ext cx="42164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 예측에 유의한 영향을 미친다.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 dirty="0" err="1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분석</a:t>
            </a: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</a:t>
            </a:r>
            <a:r>
              <a:rPr lang="en-US" sz="3466" b="0" i="0" u="none" strike="noStrike" dirty="0" err="1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</a:t>
            </a:r>
            <a:r>
              <a:rPr lang="en-US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: </a:t>
            </a:r>
            <a:r>
              <a:rPr lang="en-US" altLang="ko-KR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H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  <a:r>
              <a:rPr lang="en-US" altLang="ko-KR" sz="34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vs H</a:t>
            </a:r>
            <a:r>
              <a:rPr lang="en-US" altLang="ko-KR" sz="20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  <a:endParaRPr lang="en-US" sz="3466" b="0" i="0" u="none" strike="noStrike" dirty="0">
              <a:solidFill>
                <a:srgbClr val="000000"/>
              </a:solidFill>
              <a:latin typeface="Gong Gothic Medium"/>
              <a:ea typeface="Gong Gothic Medium"/>
              <a:cs typeface="Gong Gothic Medium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귀무가설</a:t>
            </a: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H</a:t>
            </a:r>
            <a:r>
              <a:rPr lang="en-US" altLang="ko-KR" sz="16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0</a:t>
            </a:r>
            <a:endParaRPr lang="en-US" sz="2666" b="0" i="0" u="none" strike="noStrike" dirty="0">
              <a:solidFill>
                <a:srgbClr val="000000"/>
              </a:solidFill>
              <a:latin typeface="Gong Gothic Medium"/>
              <a:ea typeface="Gong Gothic Medium"/>
              <a:cs typeface="Gong Gothic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 err="1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대립가설</a:t>
            </a:r>
            <a:r>
              <a:rPr lang="en-US" sz="2666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 </a:t>
            </a:r>
            <a:r>
              <a:rPr lang="en-US" altLang="ko-KR" sz="28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H</a:t>
            </a:r>
            <a:r>
              <a:rPr lang="en-US" altLang="ko-KR" sz="1600" b="0" i="0" u="none" strike="noStrike" dirty="0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1</a:t>
            </a:r>
            <a:endParaRPr lang="en-US" sz="2666" b="0" i="0" u="none" strike="noStrike" dirty="0">
              <a:solidFill>
                <a:srgbClr val="000000"/>
              </a:solidFill>
              <a:latin typeface="Gong Gothic Medium"/>
              <a:ea typeface="Gong Gothic Medium"/>
              <a:cs typeface="Gong Gothic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OPS예측에 유의한 영향을 미치지 않는다.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107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타자의 기본 기록은 OPS예측에 유의한 영향을 미친다.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검정방법 : p-value &lt; 0.05 기준 판정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55700"/>
            <a:ext cx="15798800" cy="736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가설 및 문제정의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5400000">
            <a:off x="6108700" y="7366000"/>
            <a:ext cx="7645400" cy="76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625600" y="3784600"/>
            <a:ext cx="66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</a:rPr>
              <a:t>1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600200" y="3479800"/>
            <a:ext cx="4229100" cy="647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4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변수 정의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2679700"/>
            <a:ext cx="3581400" cy="9144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0104100" y="2882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39116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9431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독립변수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29900" y="4584700"/>
            <a:ext cx="4191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정속변수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304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807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OPS(출루율 + 장타율)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00200" y="12128500"/>
            <a:ext cx="140970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제외 변수 : 출루율(OBP), 장타율(SLG) -&gt; OPS 계산식에 직접 사용되는 변수이므로 제외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930400" y="6311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30400" y="69850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안타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304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2루타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304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3루타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72100" y="5664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볼넷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72100" y="63246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삼진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372100" y="76581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타점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72100" y="69977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도루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72100" y="83312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득점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30400" y="8978900"/>
            <a:ext cx="6553200" cy="55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933" b="0" i="0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홈런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878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유형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독립변수 - 수치형(비율척도)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종속변수 - 수치형(연속형)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결측치, 이상치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데이터 분할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Train   80% / Test   20%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교차검증 여부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O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5-Fold Cross Validation 수행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rowSpan="3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train_test_split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test_size=0.2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random_state=42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목적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모델의 일반화 성능 확인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데이터 분할에 따른 성능 편차 감소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구분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내용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비고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729700" y="12052300"/>
            <a:ext cx="14986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05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4800" y="3365500"/>
            <a:ext cx="10579100" cy="79375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이상치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06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3238500"/>
            <a:ext cx="10693400" cy="8013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변수 분포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데이터셋 분할 전략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384300" y="3492500"/>
            <a:ext cx="132588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733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데이터 유형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04100" y="4914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07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3784600"/>
            <a:ext cx="3581400" cy="914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4000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3200400"/>
            <a:ext cx="9575800" cy="82931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384300" y="4902200"/>
            <a:ext cx="36830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상관관계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 - 선정 이유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선정 근거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변수 간 선형 관계 확인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결과 해석이 쉬움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기준(Baseline) 모델로 활용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8"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비선형 관계 학습 가능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변수 간 복잡한 관계를 잘 반영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과적합을 완화하는 앙상블 모델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5958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33131"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사용 모델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선형회귀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 Regressor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08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모델 개발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3600" y="11823700"/>
            <a:ext cx="18072100" cy="1155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4787900"/>
            <a:ext cx="16116300" cy="65024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680200" y="4152900"/>
            <a:ext cx="65532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Gong Gothic Light"/>
                <a:ea typeface="Gong Gothic Light"/>
                <a:cs typeface="Gong Gothic Light"/>
              </a:rPr>
              <a:t>Random Forest 변수 중요도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04100" y="59182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09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37400" y="4686300"/>
            <a:ext cx="3581400" cy="914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0104100" y="48895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성능 평가 결과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729226"/>
              </p:ext>
            </p:extLst>
          </p:nvPr>
        </p:nvGraphicFramePr>
        <p:xfrm>
          <a:off x="876300" y="3975100"/>
          <a:ext cx="18008908" cy="8908793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6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0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MAE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0.0375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0.0531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187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RMSE 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0.0541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0.0630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31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R² Score 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0.7425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0.6513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848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결과 해석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선형회귀가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Random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Forest보다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더 </a:t>
                      </a:r>
                      <a:r>
                        <a:rPr lang="en-US" altLang="ko-KR" sz="2666" b="0" i="0" u="none" strike="noStrike" kern="1200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높은</a:t>
                      </a:r>
                      <a:r>
                        <a:rPr lang="en-US" altLang="ko-KR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kern="1200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+mn-cs"/>
                        </a:rPr>
                        <a:t>R²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를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기록했다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  OPS-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타격기록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관계가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상당히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선형적이라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,</a:t>
                      </a:r>
                      <a:endParaRPr lang="en-US" altLang="ko-KR" sz="1100" dirty="0"/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복잡한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모델이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오히려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과적합했을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가능성이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있다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
-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회귀계수·변수중요도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모두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홈런·2루타·타점 등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장타력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지표가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OPS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예측에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핵심적이라는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결론이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일치한다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
-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가설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검정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결론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: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타자의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기본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기록은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OPS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예측에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유의한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영향을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미친다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</a:t>
                      </a:r>
                    </a:p>
                    <a:p>
                      <a:pPr lvl="0" algn="l">
                        <a:lnSpc>
                          <a:spcPct val="200000"/>
                        </a:lnSpc>
                      </a:pP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   →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귀무가설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(H</a:t>
                      </a:r>
                      <a:r>
                        <a:rPr lang="en-US" altLang="ko-KR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0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기각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,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대립가설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(H</a:t>
                      </a:r>
                      <a:r>
                        <a:rPr lang="en-US" altLang="ko-KR" sz="150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1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) </a:t>
                      </a:r>
                      <a:r>
                        <a:rPr lang="en-US" altLang="ko-KR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채택</a:t>
                      </a: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86741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Linear Regression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22200" y="3187700"/>
            <a:ext cx="6451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Random Forest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104100" y="6908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팀원별 담당역할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10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37400" y="5664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104100" y="5880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82900"/>
            <a:ext cx="18046700" cy="10071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774700"/>
            <a:ext cx="18046700" cy="16383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590800" y="1143000"/>
            <a:ext cx="158242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800" b="0" i="0" u="none" strike="noStrike">
                <a:solidFill>
                  <a:srgbClr val="000000"/>
                </a:solidFill>
                <a:latin typeface="Gong Gothic Medium"/>
                <a:ea typeface="Gong Gothic Medium"/>
                <a:cs typeface="Gong Gothic Medium"/>
              </a:rPr>
              <a:t>팀원별 담당 역할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" y="1143000"/>
            <a:ext cx="889000" cy="889000"/>
          </a:xfrm>
          <a:prstGeom prst="rect">
            <a:avLst/>
          </a:prstGeom>
        </p:spPr>
      </p:pic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0468287"/>
              </p:ext>
            </p:extLst>
          </p:nvPr>
        </p:nvGraphicFramePr>
        <p:xfrm>
          <a:off x="876300" y="3987800"/>
          <a:ext cx="18008908" cy="8940168"/>
        </p:xfrm>
        <a:graphic>
          <a:graphicData uri="http://schemas.openxmlformats.org/drawingml/2006/table">
            <a:tbl>
              <a:tblPr/>
              <a:tblGrid>
                <a:gridCol w="3162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08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95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김동욱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Streamlit으로 프론트엔드 (Frontend) 작업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김수완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-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전반적인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백엔드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(Backend)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작업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-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분석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코드를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함수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/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모듈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단위로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</a:t>
                      </a:r>
                      <a:r>
                        <a:rPr lang="en-US" sz="2666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분리</a:t>
                      </a: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 등</a:t>
                      </a:r>
                    </a:p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altLang="ko-KR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 PPT </a:t>
                      </a:r>
                      <a:r>
                        <a:rPr lang="ko-KR" alt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작성</a:t>
                      </a:r>
                      <a:endParaRPr lang="en-US" sz="2666" b="0" i="0" u="none" strike="noStrike" dirty="0">
                        <a:solidFill>
                          <a:srgbClr val="595959"/>
                        </a:solidFill>
                        <a:latin typeface="Pretendard Light"/>
                        <a:ea typeface="Pretendard Light"/>
                        <a:cs typeface="Pretendard Light"/>
                      </a:endParaRP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61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기존에 </a:t>
                      </a:r>
                      <a:r>
                        <a:rPr lang="en-US" altLang="ko-KR" sz="2670" b="0" i="0" u="none" strike="noStrike" dirty="0" err="1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ipynb</a:t>
                      </a:r>
                      <a:r>
                        <a:rPr lang="ko-KR" altLang="en-US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를 이용해서 코드를 작성하다가 함수</a:t>
                      </a:r>
                      <a:r>
                        <a:rPr lang="en-US" altLang="ko-KR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/ </a:t>
                      </a:r>
                      <a:r>
                        <a:rPr lang="ko-KR" altLang="en-US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모듈 단위로 분리하려는 과정에서 어려움이 있었다</a:t>
                      </a:r>
                      <a:r>
                        <a:rPr lang="en-US" altLang="ko-KR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 </a:t>
                      </a:r>
                      <a:r>
                        <a:rPr lang="ko-KR" altLang="en-US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하나씩 단계별로 나누면서 함수를 실행시키면서 수행 해갔다</a:t>
                      </a:r>
                      <a:r>
                        <a:rPr lang="en-US" altLang="ko-KR" sz="2670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.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홍은경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
팀원 역할 분담 및 README.md 작성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 dirty="0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-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04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000000"/>
                          </a:solidFill>
                          <a:latin typeface="Gong Gothic Medium"/>
                          <a:ea typeface="Gong Gothic Medium"/>
                          <a:cs typeface="Gong Gothic Medium"/>
                        </a:rPr>
                        <a:t>공동 수행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595959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모듈 분리 방법 및 프론트앤드 내용에 관한 전반적인 의견 조, 서로의 결과물에 대한 피드백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 dirty="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2882900"/>
            <a:ext cx="18072100" cy="1155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0" y="3187700"/>
            <a:ext cx="32893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평가지표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87800" y="3187700"/>
            <a:ext cx="68326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개인별 파트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93400" y="3187700"/>
            <a:ext cx="82804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Gong Gothic Medium"/>
                <a:ea typeface="Gong Gothic Medium"/>
                <a:cs typeface="Gong Gothic Medium"/>
              </a:rPr>
              <a:t>소감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43700" y="762000"/>
            <a:ext cx="4330700" cy="122047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9583400" y="1371600"/>
            <a:ext cx="4051300" cy="10985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3857" b="0" i="0" u="none" strike="noStrike">
                <a:solidFill>
                  <a:srgbClr val="FAFAFA"/>
                </a:solidFill>
                <a:latin typeface="Pretendard Regular"/>
                <a:ea typeface="Pretendard Regular"/>
                <a:cs typeface="Pretendard Regular"/>
              </a:rPr>
              <a:t>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742400" y="12052300"/>
            <a:ext cx="1485900" cy="45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595959"/>
                </a:solidFill>
                <a:latin typeface="Montserrat Regular"/>
                <a:ea typeface="Montserrat Regular"/>
                <a:cs typeface="Montserrat Regular"/>
              </a:rPr>
              <a:t>11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37400" y="1168400"/>
            <a:ext cx="1066800" cy="990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078700" y="2971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가설 및 문제정의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078700" y="38608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데이터셋 분할 전략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078700" y="48260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모델 개발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12000" y="6680200"/>
            <a:ext cx="3581400" cy="914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20078700" y="68961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B76D"/>
                </a:solidFill>
                <a:latin typeface="Gong Gothic Light"/>
                <a:ea typeface="Gong Gothic Light"/>
                <a:cs typeface="Gong Gothic Light"/>
              </a:rPr>
              <a:t>팀원별 담당 역할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78700" y="5803900"/>
            <a:ext cx="2971800" cy="508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595959"/>
                </a:solidFill>
                <a:latin typeface="Gong Gothic Light"/>
                <a:ea typeface="Gong Gothic Light"/>
                <a:cs typeface="Gong Gothic Light"/>
              </a:rPr>
              <a:t>성능 평가 결과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682</Words>
  <Application>Microsoft Office PowerPoint</Application>
  <PresentationFormat>사용자 지정</PresentationFormat>
  <Paragraphs>207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2" baseType="lpstr">
      <vt:lpstr>Montserrat Bold</vt:lpstr>
      <vt:lpstr>Pretendard Regular</vt:lpstr>
      <vt:lpstr>Gong Gothic Light</vt:lpstr>
      <vt:lpstr>Calibri</vt:lpstr>
      <vt:lpstr>Pretendard Light</vt:lpstr>
      <vt:lpstr>Montserrat Regular</vt:lpstr>
      <vt:lpstr>맑은 고딕</vt:lpstr>
      <vt:lpstr>Gong Gothic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FullName</cp:lastModifiedBy>
  <cp:revision>5</cp:revision>
  <dcterms:created xsi:type="dcterms:W3CDTF">2006-08-16T00:00:00Z</dcterms:created>
  <dcterms:modified xsi:type="dcterms:W3CDTF">2026-08-11T06:03:50Z</dcterms:modified>
</cp:coreProperties>
</file>