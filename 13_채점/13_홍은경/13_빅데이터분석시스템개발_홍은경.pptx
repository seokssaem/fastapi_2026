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24384000" cy="13716000"/>
  <p:notesSz cx="6858000" cy="9144000"/>
  <p:embeddedFontLst>
    <p:embeddedFont>
      <p:font typeface="Gong Gothic Light" panose="020B0600000101010101" charset="-127"/>
      <p:regular r:id="rId16"/>
    </p:embeddedFont>
    <p:embeddedFont>
      <p:font typeface="Gong Gothic Medium" panose="020B0600000101010101" charset="-127"/>
      <p:bold r:id="rId17"/>
    </p:embeddedFont>
    <p:embeddedFont>
      <p:font typeface="Pretendard Light" panose="020B0600000101010101" charset="-127"/>
      <p:regular r:id="rId18"/>
    </p:embeddedFont>
    <p:embeddedFont>
      <p:font typeface="Pretendard Regular" panose="020B0600000101010101" charset="-127"/>
      <p:regular r:id="rId19"/>
    </p:embeddedFont>
    <p:embeddedFont>
      <p:font typeface="맑은 고딕" panose="020B0503020000020004" pitchFamily="50" charset="-127"/>
      <p:regular r:id="rId20"/>
      <p:bold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Montserrat Bold" panose="020B0600000101010101" charset="0"/>
      <p:bold r:id="rId26"/>
    </p:embeddedFont>
    <p:embeddedFont>
      <p:font typeface="Montserrat Regular" panose="020B0600000101010101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72" y="2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EB21DF-F92D-4F2B-BE0E-4D717A0EE7E0}" type="datetimeFigureOut">
              <a:rPr lang="ko-KR" altLang="en-US" smtClean="0"/>
              <a:t>2026-08-11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3F808-17C9-401B-9BA9-216BFA330BC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4301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3F808-17C9-401B-9BA9-216BFA330BC8}" type="slidenum">
              <a:rPr lang="ko-KR" altLang="en-US" smtClean="0"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0145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4.png"/><Relationship Id="rId7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7.png"/><Relationship Id="rId4" Type="http://schemas.openxmlformats.org/officeDocument/2006/relationships/image" Target="../media/image15.png"/><Relationship Id="rId9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1.png"/><Relationship Id="rId7" Type="http://schemas.openxmlformats.org/officeDocument/2006/relationships/image" Target="../media/image3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7.png"/><Relationship Id="rId4" Type="http://schemas.openxmlformats.org/officeDocument/2006/relationships/image" Target="../media/image15.png"/><Relationship Id="rId9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4.png"/><Relationship Id="rId7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4.png"/><Relationship Id="rId7" Type="http://schemas.openxmlformats.org/officeDocument/2006/relationships/image" Target="../media/image3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6.png"/><Relationship Id="rId4" Type="http://schemas.openxmlformats.org/officeDocument/2006/relationships/image" Target="../media/image33.png"/><Relationship Id="rId9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4.png"/><Relationship Id="rId7" Type="http://schemas.openxmlformats.org/officeDocument/2006/relationships/image" Target="../media/image3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41.png"/><Relationship Id="rId4" Type="http://schemas.openxmlformats.org/officeDocument/2006/relationships/image" Target="../media/image15.png"/><Relationship Id="rId9" Type="http://schemas.openxmlformats.org/officeDocument/2006/relationships/image" Target="../media/image4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4.png"/><Relationship Id="rId7" Type="http://schemas.openxmlformats.org/officeDocument/2006/relationships/image" Target="../media/image3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20.png"/><Relationship Id="rId4" Type="http://schemas.openxmlformats.org/officeDocument/2006/relationships/image" Target="../media/image44.png"/><Relationship Id="rId9" Type="http://schemas.openxmlformats.org/officeDocument/2006/relationships/image" Target="../media/image4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8.png"/><Relationship Id="rId7" Type="http://schemas.openxmlformats.org/officeDocument/2006/relationships/image" Target="../media/image37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4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4.png"/><Relationship Id="rId7" Type="http://schemas.openxmlformats.org/officeDocument/2006/relationships/image" Target="../media/image29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20.png"/><Relationship Id="rId4" Type="http://schemas.openxmlformats.org/officeDocument/2006/relationships/image" Target="../media/image5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5.png"/><Relationship Id="rId4" Type="http://schemas.openxmlformats.org/officeDocument/2006/relationships/image" Target="../media/image55.png"/><Relationship Id="rId9" Type="http://schemas.openxmlformats.org/officeDocument/2006/relationships/image" Target="../media/image5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762000"/>
            <a:ext cx="18046700" cy="12204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5113000" y="10604500"/>
            <a:ext cx="2908300" cy="76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300" y="10680700"/>
            <a:ext cx="8280400" cy="2273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0" y="10680700"/>
            <a:ext cx="8280400" cy="2273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84500" y="8572500"/>
            <a:ext cx="1752600" cy="825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51000"/>
          </a:blip>
          <a:stretch>
            <a:fillRect/>
          </a:stretch>
        </p:blipFill>
        <p:spPr>
          <a:xfrm>
            <a:off x="16040100" y="11645900"/>
            <a:ext cx="990600" cy="990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51000"/>
          </a:blip>
          <a:stretch>
            <a:fillRect/>
          </a:stretch>
        </p:blipFill>
        <p:spPr>
          <a:xfrm>
            <a:off x="9436100" y="10198100"/>
            <a:ext cx="990600" cy="990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66300" y="10553700"/>
            <a:ext cx="317500" cy="317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370300" y="11988800"/>
            <a:ext cx="317500" cy="317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413000" y="11468100"/>
            <a:ext cx="1689100" cy="368300"/>
          </a:xfrm>
          <a:prstGeom prst="rect">
            <a:avLst/>
          </a:prstGeom>
        </p:spPr>
        <p:txBody>
          <a:bodyPr lIns="0" tIns="11854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1866" b="0" i="0" u="none" strike="noStrike" dirty="0">
                <a:solidFill>
                  <a:srgbClr val="C2C2C2"/>
                </a:solidFill>
                <a:latin typeface="Gong Gothic Light"/>
                <a:ea typeface="Gong Gothic Light"/>
                <a:cs typeface="Gong Gothic Light"/>
              </a:rPr>
              <a:t>B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277100" y="10807700"/>
            <a:ext cx="1689100" cy="368300"/>
          </a:xfrm>
          <a:prstGeom prst="rect">
            <a:avLst/>
          </a:prstGeom>
        </p:spPr>
        <p:txBody>
          <a:bodyPr lIns="0" tIns="11854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1866" b="0" i="0" u="none" strike="noStrike" dirty="0">
                <a:solidFill>
                  <a:srgbClr val="C2C2C2"/>
                </a:solidFill>
                <a:latin typeface="Gong Gothic Light"/>
                <a:ea typeface="Gong Gothic Light"/>
                <a:cs typeface="Gong Gothic Light"/>
              </a:rPr>
              <a:t>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817600" y="11899900"/>
            <a:ext cx="1689100" cy="368300"/>
          </a:xfrm>
          <a:prstGeom prst="rect">
            <a:avLst/>
          </a:prstGeom>
        </p:spPr>
        <p:txBody>
          <a:bodyPr lIns="0" tIns="11854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1866" b="0" i="0" u="none" strike="noStrike" dirty="0">
                <a:solidFill>
                  <a:srgbClr val="C2C2C2"/>
                </a:solidFill>
                <a:latin typeface="Gong Gothic Light"/>
                <a:ea typeface="Gong Gothic Light"/>
                <a:cs typeface="Gong Gothic Light"/>
              </a:rPr>
              <a:t>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432300" y="11798300"/>
            <a:ext cx="1689100" cy="368300"/>
          </a:xfrm>
          <a:prstGeom prst="rect">
            <a:avLst/>
          </a:prstGeom>
        </p:spPr>
        <p:txBody>
          <a:bodyPr lIns="0" tIns="11854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1866" b="0" i="0" u="none" strike="noStrike" dirty="0">
                <a:solidFill>
                  <a:srgbClr val="C2C2C2"/>
                </a:solidFill>
                <a:latin typeface="Gong Gothic Light"/>
                <a:ea typeface="Gong Gothic Light"/>
                <a:cs typeface="Gong Gothic Light"/>
              </a:rPr>
              <a:t>C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5200" y="12052300"/>
            <a:ext cx="1689100" cy="368300"/>
          </a:xfrm>
          <a:prstGeom prst="rect">
            <a:avLst/>
          </a:prstGeom>
        </p:spPr>
        <p:txBody>
          <a:bodyPr lIns="0" tIns="11854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1866" b="0" i="0" u="none" strike="noStrike" dirty="0">
                <a:solidFill>
                  <a:srgbClr val="C2C2C2"/>
                </a:solidFill>
                <a:latin typeface="Gong Gothic Light"/>
                <a:ea typeface="Gong Gothic Light"/>
                <a:cs typeface="Gong Gothic Light"/>
              </a:rPr>
              <a:t>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849600" y="8699500"/>
            <a:ext cx="1371600" cy="508000"/>
          </a:xfrm>
          <a:prstGeom prst="rect">
            <a:avLst/>
          </a:prstGeom>
        </p:spPr>
        <p:txBody>
          <a:bodyPr lIns="0" tIns="16934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2666" b="0" i="0" u="none" strike="noStrike" dirty="0">
                <a:solidFill>
                  <a:srgbClr val="00B76D"/>
                </a:solidFill>
                <a:latin typeface="Gong Gothic Medium"/>
                <a:ea typeface="Gong Gothic Medium"/>
                <a:cs typeface="Gong Gothic Medium"/>
              </a:rPr>
              <a:t>H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272000" y="12052300"/>
            <a:ext cx="1689100" cy="368300"/>
          </a:xfrm>
          <a:prstGeom prst="rect">
            <a:avLst/>
          </a:prstGeom>
        </p:spPr>
        <p:txBody>
          <a:bodyPr lIns="0" tIns="11854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1866" b="0" i="0" u="none" strike="noStrike" dirty="0">
                <a:solidFill>
                  <a:srgbClr val="C2C2C2"/>
                </a:solidFill>
                <a:latin typeface="Gong Gothic Light"/>
                <a:ea typeface="Gong Gothic Light"/>
                <a:cs typeface="Gong Gothic Light"/>
              </a:rPr>
              <a:t>I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01400" y="10782300"/>
            <a:ext cx="914400" cy="368300"/>
          </a:xfrm>
          <a:prstGeom prst="rect">
            <a:avLst/>
          </a:prstGeom>
        </p:spPr>
        <p:txBody>
          <a:bodyPr lIns="0" tIns="11854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1866" b="0" i="0" u="none" strike="noStrike" dirty="0">
                <a:solidFill>
                  <a:srgbClr val="C2C2C2"/>
                </a:solidFill>
                <a:latin typeface="Gong Gothic Light"/>
                <a:ea typeface="Gong Gothic Light"/>
                <a:cs typeface="Gong Gothic Light"/>
              </a:rPr>
              <a:t>F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48800" y="10109200"/>
            <a:ext cx="914400" cy="368300"/>
          </a:xfrm>
          <a:prstGeom prst="rect">
            <a:avLst/>
          </a:prstGeom>
        </p:spPr>
        <p:txBody>
          <a:bodyPr lIns="0" tIns="11854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1866" b="0" i="0" u="none" strike="noStrike" dirty="0">
                <a:solidFill>
                  <a:srgbClr val="C2C2C2"/>
                </a:solidFill>
                <a:latin typeface="Gong Gothic Light"/>
                <a:ea typeface="Gong Gothic Light"/>
                <a:cs typeface="Gong Gothic Light"/>
              </a:rPr>
              <a:t>E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443700" y="749300"/>
            <a:ext cx="4330700" cy="122047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837400" y="2667000"/>
            <a:ext cx="3581400" cy="9144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20104100" y="28702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팀원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0104100" y="3708400"/>
            <a:ext cx="2971800" cy="1460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김동욱</a:t>
            </a:r>
          </a:p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김수완 </a:t>
            </a:r>
          </a:p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홍은경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850100" y="5397500"/>
            <a:ext cx="3581400" cy="9144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20116800" y="55626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평가일시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0116800" y="64516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2026-08-11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993900" y="1892300"/>
            <a:ext cx="16230600" cy="1447800"/>
          </a:xfrm>
          <a:prstGeom prst="rect">
            <a:avLst/>
          </a:prstGeom>
        </p:spPr>
        <p:txBody>
          <a:bodyPr lIns="0" tIns="508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8000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빅데이터 분석 모델링 및 시스템 개발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993900" y="5600700"/>
            <a:ext cx="11112500" cy="5969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OPS 예측 머신러닝 회귀 모델 개발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214600" y="8140700"/>
            <a:ext cx="2603500" cy="317500"/>
          </a:xfrm>
          <a:prstGeom prst="rect">
            <a:avLst/>
          </a:prstGeom>
        </p:spPr>
        <p:txBody>
          <a:bodyPr lIns="0" tIns="10160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1600" b="0" i="0" u="none" strike="noStrike" spc="-100" dirty="0">
                <a:solidFill>
                  <a:srgbClr val="00B76D"/>
                </a:solidFill>
                <a:latin typeface="Gong Gothic Light"/>
                <a:ea typeface="Gong Gothic Light"/>
                <a:cs typeface="Gong Gothic Light"/>
              </a:rPr>
              <a:t>예측</a:t>
            </a: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926300" y="1193800"/>
            <a:ext cx="1104900" cy="11049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812000" y="7264400"/>
            <a:ext cx="3581400" cy="914400"/>
          </a:xfrm>
          <a:prstGeom prst="rect">
            <a:avLst/>
          </a:prstGeom>
        </p:spPr>
      </p:pic>
      <p:sp>
        <p:nvSpPr>
          <p:cNvPr id="32" name="TextBox 32"/>
          <p:cNvSpPr txBox="1"/>
          <p:nvPr/>
        </p:nvSpPr>
        <p:spPr>
          <a:xfrm>
            <a:off x="20078700" y="74295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branch 이름(영문)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0104100" y="84201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3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Ho</a:t>
            </a:r>
            <a:r>
              <a:rPr lang="en-US" sz="2663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ng EunKyeong</a:t>
            </a:r>
            <a:endParaRPr lang="en-US" sz="2663" b="0" i="0" u="none" strike="noStrike" dirty="0">
              <a:solidFill>
                <a:srgbClr val="595959"/>
              </a:solidFill>
              <a:latin typeface="Gong Gothic Light"/>
              <a:ea typeface="Gong Gothic Light"/>
              <a:cs typeface="Gong Gothic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82900"/>
            <a:ext cx="18046700" cy="10071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774700"/>
            <a:ext cx="18046700" cy="1638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90800" y="1155700"/>
            <a:ext cx="15798800" cy="736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000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가설 및 문제정의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1143000"/>
            <a:ext cx="889000" cy="889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5400000">
            <a:off x="3086100" y="7429500"/>
            <a:ext cx="7658100" cy="76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 rot="5400000">
            <a:off x="9080500" y="7404100"/>
            <a:ext cx="7645400" cy="76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0200" y="3695700"/>
            <a:ext cx="685800" cy="6858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625600" y="3784600"/>
            <a:ext cx="6604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1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3800" y="3695700"/>
            <a:ext cx="685800" cy="6858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7556500" y="3784600"/>
            <a:ext cx="6604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2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77900" y="3695700"/>
            <a:ext cx="685800" cy="6858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3690600" y="3784600"/>
            <a:ext cx="6477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3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0800000">
            <a:off x="863600" y="11823700"/>
            <a:ext cx="18072100" cy="11557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878300" y="10058400"/>
            <a:ext cx="1422400" cy="1422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87100" y="10058400"/>
            <a:ext cx="1422400" cy="1422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6200000">
            <a:off x="5054600" y="10058400"/>
            <a:ext cx="1422400" cy="14224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600200" y="4711700"/>
            <a:ext cx="4229100" cy="647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466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문제 정의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60500" y="5562600"/>
            <a:ext cx="4495800" cy="472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OPS는 타자의 공격력을 종합적으로 평가하는 대표적인 지표이다.
하지만 경기 전에는 OPS를 알 수 없으므로, 선수의 기본 타격 기록을 이용하여 OPS를 예측할 수 있는 머신러닝 모델을 개발하고자 한다.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42200" y="5562600"/>
            <a:ext cx="4394200" cy="2641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 dirty="0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타자의 기본 기록을 활용하여 OPS를 예측하고, 어떤 기록이 OPS에 가장 큰 영향을 미치는지 분석한다.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43800" y="4711700"/>
            <a:ext cx="4216400" cy="647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466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분석 목적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77900" y="4711700"/>
            <a:ext cx="4216400" cy="647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466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가설 설정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677900" y="5562600"/>
            <a:ext cx="4216400" cy="160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 dirty="0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타자의 기본 기록은 OPS 예측에 유의한 영향을 미친다.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443700" y="762000"/>
            <a:ext cx="4330700" cy="122047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9583400" y="1371600"/>
            <a:ext cx="4051300" cy="1098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857" b="0" i="0" u="none" strike="noStrike" dirty="0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ㅌ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837400" y="2679700"/>
            <a:ext cx="3581400" cy="9144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20104100" y="28829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00B76D"/>
                </a:solidFill>
                <a:latin typeface="Gong Gothic Light"/>
                <a:ea typeface="Gong Gothic Light"/>
                <a:cs typeface="Gong Gothic Light"/>
              </a:rPr>
              <a:t>가설 및 문제정의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0104100" y="39116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데이터셋 분할 전략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0104100" y="49149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모델 개발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0104100" y="59182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성능 평가 결과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0104100" y="6908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팀원별 담당역할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1742400" y="12052300"/>
            <a:ext cx="14859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595959"/>
                </a:solidFill>
                <a:latin typeface="Montserrat Regular"/>
                <a:ea typeface="Montserrat Regular"/>
                <a:cs typeface="Montserrat Regular"/>
              </a:rPr>
              <a:t>01</a:t>
            </a: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837400" y="1168400"/>
            <a:ext cx="10668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82900"/>
            <a:ext cx="18046700" cy="10071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774700"/>
            <a:ext cx="18046700" cy="1638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90800" y="1155700"/>
            <a:ext cx="15798800" cy="736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000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가설 및 문제정의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1143000"/>
            <a:ext cx="889000" cy="889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5400000">
            <a:off x="6108700" y="7366000"/>
            <a:ext cx="7645400" cy="76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625600" y="3784600"/>
            <a:ext cx="6604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1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863600" y="11823700"/>
            <a:ext cx="18072100" cy="1155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600200" y="3479800"/>
            <a:ext cx="4229100" cy="647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466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분석 가설 : H</a:t>
            </a:r>
            <a:r>
              <a:rPr lang="en-US" sz="2000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0</a:t>
            </a:r>
            <a:r>
              <a:rPr lang="en-US" sz="3466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 vs H</a:t>
            </a:r>
            <a:r>
              <a:rPr lang="en-US" sz="2000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1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43700" y="762000"/>
            <a:ext cx="4330700" cy="12204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9583400" y="1371600"/>
            <a:ext cx="4051300" cy="1098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857" b="0" i="0" u="none" strike="noStrike" dirty="0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ㅌ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37400" y="2679700"/>
            <a:ext cx="3581400" cy="914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20104100" y="28829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00B76D"/>
                </a:solidFill>
                <a:latin typeface="Gong Gothic Light"/>
                <a:ea typeface="Gong Gothic Light"/>
                <a:cs typeface="Gong Gothic Light"/>
              </a:rPr>
              <a:t>가설 및 문제정의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104100" y="39116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데이터셋 분할 전략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104100" y="49149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모델 개발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104100" y="59182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성능 평가 결과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104100" y="6908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팀원별 담당역할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1742400" y="12052300"/>
            <a:ext cx="14859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595959"/>
                </a:solidFill>
                <a:latin typeface="Montserrat Regular"/>
                <a:ea typeface="Montserrat Regular"/>
                <a:cs typeface="Montserrat Regular"/>
              </a:rPr>
              <a:t>02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37400" y="1168400"/>
            <a:ext cx="1066800" cy="9906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943100" y="4584700"/>
            <a:ext cx="41910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귀무가설 H</a:t>
            </a:r>
            <a:r>
              <a:rPr lang="en-US" sz="2000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629900" y="4584700"/>
            <a:ext cx="41910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대립가설 H</a:t>
            </a:r>
            <a:r>
              <a:rPr lang="en-US" sz="2000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30400" y="5664200"/>
            <a:ext cx="6553200" cy="1079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 dirty="0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타자의 기본 기록은 OPS예측에 유의한 영향을 미치지 않는다.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680700" y="5664200"/>
            <a:ext cx="6553200" cy="1079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 dirty="0" err="1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타자의</a:t>
            </a:r>
            <a:r>
              <a:rPr lang="en-US" sz="2933" b="0" i="0" u="none" strike="noStrike" dirty="0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2933" b="0" i="0" u="none" strike="noStrike" dirty="0" err="1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기본</a:t>
            </a:r>
            <a:r>
              <a:rPr lang="en-US" sz="2933" b="0" i="0" u="none" strike="noStrike" dirty="0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2933" b="0" i="0" u="none" strike="noStrike" dirty="0" err="1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기록은</a:t>
            </a:r>
            <a:r>
              <a:rPr lang="en-US" sz="2933" b="0" i="0" u="none" strike="noStrike" dirty="0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2933" b="0" i="0" u="none" strike="noStrike" dirty="0" err="1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OPS예측에</a:t>
            </a:r>
            <a:r>
              <a:rPr lang="en-US" sz="2933" b="0" i="0" u="none" strike="noStrike" dirty="0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2933" b="0" i="0" u="none" strike="noStrike" dirty="0" err="1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유의한</a:t>
            </a:r>
            <a:r>
              <a:rPr lang="en-US" sz="2933" b="0" i="0" u="none" strike="noStrike" dirty="0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2933" b="0" i="0" u="none" strike="noStrike" dirty="0" err="1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영향을</a:t>
            </a:r>
            <a:r>
              <a:rPr lang="en-US" sz="2933" b="0" i="0" u="none" strike="noStrike" dirty="0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2933" b="0" i="0" u="none" strike="noStrike" dirty="0" err="1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미친다</a:t>
            </a:r>
            <a:r>
              <a:rPr lang="en-US" sz="2933" b="0" i="0" u="none" strike="noStrike" dirty="0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00200" y="12128500"/>
            <a:ext cx="140970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검정방법 : p-value &lt; 0.05 기준 판정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82900"/>
            <a:ext cx="18046700" cy="10071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774700"/>
            <a:ext cx="18046700" cy="1638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90800" y="1155700"/>
            <a:ext cx="15798800" cy="736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000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가설 및 문제정의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1143000"/>
            <a:ext cx="889000" cy="889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5400000">
            <a:off x="6108700" y="7366000"/>
            <a:ext cx="7645400" cy="76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625600" y="3784600"/>
            <a:ext cx="6604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1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863600" y="11823700"/>
            <a:ext cx="18072100" cy="1155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600200" y="3479800"/>
            <a:ext cx="4229100" cy="647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466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변수 정의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43700" y="762000"/>
            <a:ext cx="4330700" cy="12204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9583400" y="1371600"/>
            <a:ext cx="4051300" cy="1098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857" b="0" i="0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ㅌ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37400" y="2679700"/>
            <a:ext cx="3581400" cy="914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20104100" y="28829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B76D"/>
                </a:solidFill>
                <a:latin typeface="Gong Gothic Light"/>
                <a:ea typeface="Gong Gothic Light"/>
                <a:cs typeface="Gong Gothic Light"/>
              </a:rPr>
              <a:t>가설 및 문제정의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104100" y="39116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데이터셋 분할 전략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104100" y="49149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모델 개발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104100" y="59182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성능 평가 결과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104100" y="6908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팀원별 담당역할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1742400" y="12052300"/>
            <a:ext cx="14859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595959"/>
                </a:solidFill>
                <a:latin typeface="Montserrat Regular"/>
                <a:ea typeface="Montserrat Regular"/>
                <a:cs typeface="Montserrat Regular"/>
              </a:rPr>
              <a:t>03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37400" y="1168400"/>
            <a:ext cx="1066800" cy="9906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943100" y="4584700"/>
            <a:ext cx="41910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독립변수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629900" y="4584700"/>
            <a:ext cx="41910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정속변수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30400" y="5664200"/>
            <a:ext cx="6553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타석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680700" y="5664200"/>
            <a:ext cx="6553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OPS(출루율 + 장타율)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00200" y="12128500"/>
            <a:ext cx="140970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제외 변수 : 출루율(OBP), 장타율(SLG) -&gt; OPS 계산식에 직접 사용되는 변수이므로 제외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930400" y="6311900"/>
            <a:ext cx="6553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타수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930400" y="6985000"/>
            <a:ext cx="6553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안타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930400" y="7658100"/>
            <a:ext cx="6553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2루타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930400" y="8331200"/>
            <a:ext cx="6553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3루타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372100" y="5664200"/>
            <a:ext cx="6553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볼넷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372100" y="6324600"/>
            <a:ext cx="6553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삼진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372100" y="7658100"/>
            <a:ext cx="6553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타점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372100" y="6997700"/>
            <a:ext cx="6553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도루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372100" y="8331200"/>
            <a:ext cx="6553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득점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930400" y="8978900"/>
            <a:ext cx="6553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홈런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82900"/>
            <a:ext cx="18046700" cy="10071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774700"/>
            <a:ext cx="18046700" cy="1638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90800" y="1143000"/>
            <a:ext cx="15824200" cy="889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800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데이터셋 분할 전략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1143000"/>
            <a:ext cx="889000" cy="889000"/>
          </a:xfrm>
          <a:prstGeom prst="rect">
            <a:avLst/>
          </a:prstGeom>
        </p:spPr>
      </p:pic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876300" y="3987800"/>
          <a:ext cx="18008908" cy="8908793"/>
        </p:xfrm>
        <a:graphic>
          <a:graphicData uri="http://schemas.openxmlformats.org/drawingml/2006/table">
            <a:tbl>
              <a:tblPr/>
              <a:tblGrid>
                <a:gridCol w="31621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16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0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75307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데이터 유형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독립변수 - 수치형(비율척도)</a:t>
                      </a:r>
                      <a:endParaRPr lang="en-US" sz="1100"/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종속변수 - 수치형(연속형)</a:t>
                      </a:r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결측치, 이상치 확인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187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데이터 분할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Train   80% / Test   20%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313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교차검증 여부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O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5-Fold Cross Validation 수행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3131">
                <a:tc rowSpan="3"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train_test_split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test_size=0.2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3131"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random_state=42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33131"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5958"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목적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모델의 일반화 성능 확인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33131"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데이터 분할에 따른 성능 편차 감소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00" y="2882900"/>
            <a:ext cx="18072100" cy="1155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838200" y="3187700"/>
            <a:ext cx="32893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Gong Gothic Medium"/>
                <a:ea typeface="Gong Gothic Medium"/>
                <a:cs typeface="Gong Gothic Medium"/>
              </a:rPr>
              <a:t>구분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987800" y="3187700"/>
            <a:ext cx="86741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Gong Gothic Medium"/>
                <a:ea typeface="Gong Gothic Medium"/>
                <a:cs typeface="Gong Gothic Medium"/>
              </a:rPr>
              <a:t>내용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522200" y="3187700"/>
            <a:ext cx="64516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Gong Gothic Medium"/>
                <a:ea typeface="Gong Gothic Medium"/>
                <a:cs typeface="Gong Gothic Medium"/>
              </a:rPr>
              <a:t>비고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43700" y="762000"/>
            <a:ext cx="4330700" cy="12204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9583400" y="1371600"/>
            <a:ext cx="4051300" cy="1098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857" b="0" i="0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ㅌ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104100" y="49149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모델 개발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104100" y="59182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성능 평가 결과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104100" y="6908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팀원별 담당역할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1729700" y="12052300"/>
            <a:ext cx="14986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595959"/>
                </a:solidFill>
                <a:latin typeface="Montserrat Regular"/>
                <a:ea typeface="Montserrat Regular"/>
                <a:cs typeface="Montserrat Regular"/>
              </a:rPr>
              <a:t>04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37400" y="1168400"/>
            <a:ext cx="1066800" cy="9906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12000" y="3784600"/>
            <a:ext cx="3581400" cy="914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20078700" y="40005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B76D"/>
                </a:solidFill>
                <a:latin typeface="Gong Gothic Light"/>
                <a:ea typeface="Gong Gothic Light"/>
                <a:cs typeface="Gong Gothic Light"/>
              </a:rPr>
              <a:t>데이터셋 분할 전략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0078700" y="2971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가설 및 문제정의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82900"/>
            <a:ext cx="18046700" cy="10071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774700"/>
            <a:ext cx="18046700" cy="1638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90800" y="1143000"/>
            <a:ext cx="15824200" cy="889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800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데이터셋 분할 전략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1143000"/>
            <a:ext cx="889000" cy="889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863600" y="11823700"/>
            <a:ext cx="18072100" cy="11557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384300" y="3492500"/>
            <a:ext cx="13258800" cy="698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733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데이터 유형 분포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43700" y="762000"/>
            <a:ext cx="4330700" cy="12204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9583400" y="1371600"/>
            <a:ext cx="4051300" cy="1098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857" b="0" i="0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ㅌ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104100" y="49149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모델 개발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104100" y="59182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성능 평가 결과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104100" y="6908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팀원별 담당역할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742400" y="12052300"/>
            <a:ext cx="14859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595959"/>
                </a:solidFill>
                <a:latin typeface="Montserrat Regular"/>
                <a:ea typeface="Montserrat Regular"/>
                <a:cs typeface="Montserrat Regular"/>
              </a:rPr>
              <a:t>05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37400" y="1168400"/>
            <a:ext cx="1066800" cy="990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12000" y="3784600"/>
            <a:ext cx="3581400" cy="9144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20078700" y="40005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B76D"/>
                </a:solidFill>
                <a:latin typeface="Gong Gothic Light"/>
                <a:ea typeface="Gong Gothic Light"/>
                <a:cs typeface="Gong Gothic Light"/>
              </a:rPr>
              <a:t>데이터셋 분할 전략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078700" y="2971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가설 및 문제정의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4800" y="3365500"/>
            <a:ext cx="10579100" cy="79375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384300" y="4902200"/>
            <a:ext cx="36830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이상치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82900"/>
            <a:ext cx="18046700" cy="10071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774700"/>
            <a:ext cx="18046700" cy="1638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90800" y="1143000"/>
            <a:ext cx="15824200" cy="889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800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데이터셋 분할 전략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1143000"/>
            <a:ext cx="889000" cy="889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863600" y="11823700"/>
            <a:ext cx="18072100" cy="11557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384300" y="3492500"/>
            <a:ext cx="13258800" cy="698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733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데이터 유형 분포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43700" y="762000"/>
            <a:ext cx="4330700" cy="12204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9583400" y="1371600"/>
            <a:ext cx="4051300" cy="1098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857" b="0" i="0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ㅌ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104100" y="49149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모델 개발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104100" y="59182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성능 평가 결과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104100" y="6908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팀원별 담당역할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742400" y="12052300"/>
            <a:ext cx="14859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595959"/>
                </a:solidFill>
                <a:latin typeface="Montserrat Regular"/>
                <a:ea typeface="Montserrat Regular"/>
                <a:cs typeface="Montserrat Regular"/>
              </a:rPr>
              <a:t>06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37400" y="1168400"/>
            <a:ext cx="1066800" cy="990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12000" y="3784600"/>
            <a:ext cx="3581400" cy="9144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20078700" y="40005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B76D"/>
                </a:solidFill>
                <a:latin typeface="Gong Gothic Light"/>
                <a:ea typeface="Gong Gothic Light"/>
                <a:cs typeface="Gong Gothic Light"/>
              </a:rPr>
              <a:t>데이터셋 분할 전략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078700" y="2971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가설 및 문제정의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81600" y="3238500"/>
            <a:ext cx="10693400" cy="80137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384300" y="4902200"/>
            <a:ext cx="36830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변수 분포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82900"/>
            <a:ext cx="18046700" cy="10071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774700"/>
            <a:ext cx="18046700" cy="1638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90800" y="1143000"/>
            <a:ext cx="15824200" cy="889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800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데이터셋 분할 전략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1143000"/>
            <a:ext cx="889000" cy="889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863600" y="11823700"/>
            <a:ext cx="18072100" cy="11557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384300" y="3492500"/>
            <a:ext cx="13258800" cy="698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733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데이터 유형 분포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43700" y="762000"/>
            <a:ext cx="4330700" cy="12204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9583400" y="1371600"/>
            <a:ext cx="4051300" cy="1098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857" b="0" i="0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ㅌ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104100" y="49149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모델 개발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104100" y="59182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성능 평가 결과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104100" y="6908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팀원별 담당역할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742400" y="12052300"/>
            <a:ext cx="14859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595959"/>
                </a:solidFill>
                <a:latin typeface="Montserrat Regular"/>
                <a:ea typeface="Montserrat Regular"/>
                <a:cs typeface="Montserrat Regular"/>
              </a:rPr>
              <a:t>07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37400" y="1168400"/>
            <a:ext cx="1066800" cy="990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12000" y="3784600"/>
            <a:ext cx="3581400" cy="9144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20078700" y="40005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B76D"/>
                </a:solidFill>
                <a:latin typeface="Gong Gothic Light"/>
                <a:ea typeface="Gong Gothic Light"/>
                <a:cs typeface="Gong Gothic Light"/>
              </a:rPr>
              <a:t>데이터셋 분할 전략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078700" y="2971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가설 및 문제정의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81700" y="3200400"/>
            <a:ext cx="9575800" cy="82931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384300" y="4902200"/>
            <a:ext cx="36830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상관관계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82900"/>
            <a:ext cx="18046700" cy="10071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774700"/>
            <a:ext cx="18046700" cy="1638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90800" y="1143000"/>
            <a:ext cx="15824200" cy="889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800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모델 개발 - 선정 이유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1143000"/>
            <a:ext cx="889000" cy="889000"/>
          </a:xfrm>
          <a:prstGeom prst="rect">
            <a:avLst/>
          </a:prstGeom>
        </p:spPr>
      </p:pic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876300" y="3975100"/>
          <a:ext cx="18008908" cy="8908793"/>
        </p:xfrm>
        <a:graphic>
          <a:graphicData uri="http://schemas.openxmlformats.org/drawingml/2006/table">
            <a:tbl>
              <a:tblPr/>
              <a:tblGrid>
                <a:gridCol w="31621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16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0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75307">
                <a:tc rowSpan="8"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선정 근거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8"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변수 간 선형 관계 확인 가능</a:t>
                      </a:r>
                      <a:endParaRPr lang="en-US" sz="1100"/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
결과 해석이 쉬움</a:t>
                      </a:r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
기준(Baseline) 모델로 활용</a:t>
                      </a:r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8"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비선형 관계 학습 가능</a:t>
                      </a:r>
                      <a:endParaRPr lang="en-US" sz="1100"/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
변수 간 복잡한 관계를 잘 반영</a:t>
                      </a:r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
과적합을 완화하는 앙상블 모델</a:t>
                      </a: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1873"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3131"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3131"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3131"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33131"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5958"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33131"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00" y="2882900"/>
            <a:ext cx="18072100" cy="1155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838200" y="3187700"/>
            <a:ext cx="32893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Gong Gothic Medium"/>
                <a:ea typeface="Gong Gothic Medium"/>
                <a:cs typeface="Gong Gothic Medium"/>
              </a:rPr>
              <a:t>사용 모델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987800" y="3187700"/>
            <a:ext cx="86741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Gong Gothic Medium"/>
                <a:ea typeface="Gong Gothic Medium"/>
                <a:cs typeface="Gong Gothic Medium"/>
              </a:rPr>
              <a:t>선형회귀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522200" y="3187700"/>
            <a:ext cx="64516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Gong Gothic Medium"/>
                <a:ea typeface="Gong Gothic Medium"/>
                <a:cs typeface="Gong Gothic Medium"/>
              </a:rPr>
              <a:t>Random Forest Regressor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43700" y="762000"/>
            <a:ext cx="4330700" cy="12204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9583400" y="1371600"/>
            <a:ext cx="4051300" cy="1098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857" b="0" i="0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ㅌ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104100" y="59182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성능 평가 결과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104100" y="6908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팀원별 담당역할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742400" y="12052300"/>
            <a:ext cx="14859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595959"/>
                </a:solidFill>
                <a:latin typeface="Montserrat Regular"/>
                <a:ea typeface="Montserrat Regular"/>
                <a:cs typeface="Montserrat Regular"/>
              </a:rPr>
              <a:t>08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37400" y="1168400"/>
            <a:ext cx="1066800" cy="9906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20078700" y="2971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가설 및 문제정의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37400" y="4686300"/>
            <a:ext cx="3581400" cy="914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20104100" y="48895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B76D"/>
                </a:solidFill>
                <a:latin typeface="Gong Gothic Light"/>
                <a:ea typeface="Gong Gothic Light"/>
                <a:cs typeface="Gong Gothic Light"/>
              </a:rPr>
              <a:t>모델 개발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0078700" y="3860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데이터셋 분할 전략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82900"/>
            <a:ext cx="18046700" cy="10071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774700"/>
            <a:ext cx="18046700" cy="1638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90800" y="1143000"/>
            <a:ext cx="15824200" cy="889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800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모델 개발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1143000"/>
            <a:ext cx="889000" cy="889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863600" y="11823700"/>
            <a:ext cx="18072100" cy="1155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4787900"/>
            <a:ext cx="16116300" cy="65024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6680200" y="4152900"/>
            <a:ext cx="65532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Random Forest 변수 중요도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43700" y="762000"/>
            <a:ext cx="4330700" cy="122047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9583400" y="1371600"/>
            <a:ext cx="4051300" cy="1098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857" b="0" i="0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104100" y="59182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성능 평가 결과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104100" y="6908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팀원별 담당역할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742400" y="12052300"/>
            <a:ext cx="14859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595959"/>
                </a:solidFill>
                <a:latin typeface="Montserrat Regular"/>
                <a:ea typeface="Montserrat Regular"/>
                <a:cs typeface="Montserrat Regular"/>
              </a:rPr>
              <a:t>09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37400" y="1168400"/>
            <a:ext cx="1066800" cy="9906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20078700" y="2971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가설 및 문제정의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37400" y="4686300"/>
            <a:ext cx="3581400" cy="9144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20104100" y="48895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B76D"/>
                </a:solidFill>
                <a:latin typeface="Gong Gothic Light"/>
                <a:ea typeface="Gong Gothic Light"/>
                <a:cs typeface="Gong Gothic Light"/>
              </a:rPr>
              <a:t>모델 개발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0078700" y="3860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데이터셋 분할 전략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82900"/>
            <a:ext cx="18046700" cy="10071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774700"/>
            <a:ext cx="18046700" cy="1638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90800" y="1143000"/>
            <a:ext cx="15824200" cy="889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800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성능 평가 결과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1143000"/>
            <a:ext cx="889000" cy="889000"/>
          </a:xfrm>
          <a:prstGeom prst="rect">
            <a:avLst/>
          </a:prstGeom>
        </p:spPr>
      </p:pic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32622"/>
              </p:ext>
            </p:extLst>
          </p:nvPr>
        </p:nvGraphicFramePr>
        <p:xfrm>
          <a:off x="876300" y="3975100"/>
          <a:ext cx="18008908" cy="8908793"/>
        </p:xfrm>
        <a:graphic>
          <a:graphicData uri="http://schemas.openxmlformats.org/drawingml/2006/table">
            <a:tbl>
              <a:tblPr/>
              <a:tblGrid>
                <a:gridCol w="31621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16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0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75307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MAE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0.0375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0.0531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187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RMSE 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0.0541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0.0630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313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R² Score 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0.7425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0.6513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8482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결과 해석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- 선형회귀가 Random Forest보다 더 </a:t>
                      </a:r>
                      <a:r>
                        <a:rPr lang="en-US" sz="2666" b="0" i="0" u="none" strike="noStrike" kern="1200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높은 </a:t>
                      </a:r>
                      <a:r>
                        <a:rPr lang="en-US" altLang="ko-KR" sz="2666" b="0" i="0" u="none" strike="noStrike" kern="1200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+mn-cs"/>
                        </a:rPr>
                        <a:t>R²</a:t>
                      </a: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를 기록했다.  OPS-타격기록 관계가 상당히 선형적이라,</a:t>
                      </a:r>
                      <a:endParaRPr lang="en-US" sz="1100" dirty="0"/>
                    </a:p>
                    <a:p>
                      <a:pPr lvl="0" algn="l">
                        <a:lnSpc>
                          <a:spcPct val="200000"/>
                        </a:lnSpc>
                      </a:pP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   복잡한 모델이 오히려 과적합했을 가능성이 있다.
- 회귀계수·변수중요도 모두 홈런·2루타·타점 등 장타력 지표가 OPS 예측에 핵심적이라는 결론이 일치한다.
- 가설 검정 결론: 타자의 기본 기록은 OPS 예측에 유의한 영향을 미친다.</a:t>
                      </a:r>
                    </a:p>
                    <a:p>
                      <a:pPr lvl="0" algn="l">
                        <a:lnSpc>
                          <a:spcPct val="200000"/>
                        </a:lnSpc>
                      </a:pP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    → 귀무가설(H</a:t>
                      </a:r>
                      <a:r>
                        <a:rPr lang="en-US" sz="1500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0</a:t>
                      </a: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) 기각, 대립가설(H</a:t>
                      </a:r>
                      <a:r>
                        <a:rPr lang="en-US" sz="1500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1</a:t>
                      </a: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) 채택.</a:t>
                      </a:r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00" y="2882900"/>
            <a:ext cx="18072100" cy="1155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838200" y="3187700"/>
            <a:ext cx="32893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FFFFFF"/>
                </a:solidFill>
                <a:latin typeface="Gong Gothic Medium"/>
                <a:ea typeface="Gong Gothic Medium"/>
                <a:cs typeface="Gong Gothic Medium"/>
              </a:rPr>
              <a:t>평가지표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987800" y="3187700"/>
            <a:ext cx="86741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FFFFFF"/>
                </a:solidFill>
                <a:latin typeface="Gong Gothic Medium"/>
                <a:ea typeface="Gong Gothic Medium"/>
                <a:cs typeface="Gong Gothic Medium"/>
              </a:rPr>
              <a:t>Linear Regression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522200" y="3187700"/>
            <a:ext cx="64516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FFFFFF"/>
                </a:solidFill>
                <a:latin typeface="Gong Gothic Medium"/>
                <a:ea typeface="Gong Gothic Medium"/>
                <a:cs typeface="Gong Gothic Medium"/>
              </a:rPr>
              <a:t>Random Forest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43700" y="762000"/>
            <a:ext cx="4330700" cy="12204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9583400" y="1371600"/>
            <a:ext cx="4051300" cy="1098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857" b="0" i="0" u="none" strike="noStrike" dirty="0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ㅌ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104100" y="6908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팀원별 담당역할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1742400" y="12052300"/>
            <a:ext cx="14859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595959"/>
                </a:solidFill>
                <a:latin typeface="Montserrat Regular"/>
                <a:ea typeface="Montserrat Regular"/>
                <a:cs typeface="Montserrat Regular"/>
              </a:rPr>
              <a:t>10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37400" y="1168400"/>
            <a:ext cx="1066800" cy="9906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20078700" y="2971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가설 및 문제정의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078700" y="3860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데이터셋 분할 전략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37400" y="5664200"/>
            <a:ext cx="3581400" cy="914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20104100" y="58801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00B76D"/>
                </a:solidFill>
                <a:latin typeface="Gong Gothic Light"/>
                <a:ea typeface="Gong Gothic Light"/>
                <a:cs typeface="Gong Gothic Light"/>
              </a:rPr>
              <a:t>성능 평가 결과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0078700" y="48260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모델 개발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2882900"/>
            <a:ext cx="18046700" cy="10071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0" y="774700"/>
            <a:ext cx="18046700" cy="1638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90800" y="1143000"/>
            <a:ext cx="15824200" cy="889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800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팀원별 담당 역할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4300" y="1143000"/>
            <a:ext cx="889000" cy="889000"/>
          </a:xfrm>
          <a:prstGeom prst="rect">
            <a:avLst/>
          </a:prstGeom>
        </p:spPr>
      </p:pic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883796"/>
              </p:ext>
            </p:extLst>
          </p:nvPr>
        </p:nvGraphicFramePr>
        <p:xfrm>
          <a:off x="876300" y="3987800"/>
          <a:ext cx="18008908" cy="8940168"/>
        </p:xfrm>
        <a:graphic>
          <a:graphicData uri="http://schemas.openxmlformats.org/drawingml/2006/table">
            <a:tbl>
              <a:tblPr/>
              <a:tblGrid>
                <a:gridCol w="31621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3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934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35042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김동욱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Streamlit으로 프론트엔드 (Frontend) 작업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-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5042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김수완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
전반적인 백엔드 (Backend) 작업  </a:t>
                      </a:r>
                      <a:r>
                        <a:rPr lang="ko-KR" alt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및 </a:t>
                      </a:r>
                      <a:r>
                        <a:rPr lang="en-US" altLang="ko-KR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ppt </a:t>
                      </a:r>
                      <a:r>
                        <a:rPr lang="ko-KR" alt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작성</a:t>
                      </a:r>
                      <a:endParaRPr lang="en-US" sz="2666" b="0" i="0" u="none" strike="noStrike" dirty="0">
                        <a:solidFill>
                          <a:srgbClr val="595959"/>
                        </a:solidFill>
                        <a:latin typeface="Pretendard Light"/>
                        <a:ea typeface="Pretendard Light"/>
                        <a:cs typeface="Pretendard Light"/>
                      </a:endParaRPr>
                    </a:p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 dirty="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-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5042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홍은경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
팀원 역할 분담 및 README.md 작성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16199"/>
                        </a:lnSpc>
                        <a:defRPr/>
                      </a:pPr>
                      <a:endParaRPr lang="en-US" sz="2673" dirty="0">
                        <a:latin typeface="Pretendard Light" panose="020B0600000101010101" charset="-127"/>
                        <a:ea typeface="Pretendard Light" panose="020B0600000101010101" charset="-127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5042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공동 수행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모듈 분리 방법 및 프론트앤드 내용에 관한 전반적인 의견 조, 서로의 결과물에 대한 피드백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 dirty="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600" y="2882900"/>
            <a:ext cx="18072100" cy="1155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838200" y="3187700"/>
            <a:ext cx="32893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FFFFFF"/>
                </a:solidFill>
                <a:latin typeface="Gong Gothic Medium"/>
                <a:ea typeface="Gong Gothic Medium"/>
                <a:cs typeface="Gong Gothic Medium"/>
              </a:rPr>
              <a:t>평가지표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987800" y="3187700"/>
            <a:ext cx="68326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FFFFFF"/>
                </a:solidFill>
                <a:latin typeface="Gong Gothic Medium"/>
                <a:ea typeface="Gong Gothic Medium"/>
                <a:cs typeface="Gong Gothic Medium"/>
              </a:rPr>
              <a:t>개인별 파트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693400" y="3187700"/>
            <a:ext cx="82804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FFFFFF"/>
                </a:solidFill>
                <a:latin typeface="Gong Gothic Medium"/>
                <a:ea typeface="Gong Gothic Medium"/>
                <a:cs typeface="Gong Gothic Medium"/>
              </a:rPr>
              <a:t>소감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43700" y="762000"/>
            <a:ext cx="4330700" cy="12204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9583400" y="1371600"/>
            <a:ext cx="4051300" cy="1098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857" b="0" i="0" u="none" strike="noStrike" dirty="0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ㅌ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742400" y="12052300"/>
            <a:ext cx="14859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595959"/>
                </a:solidFill>
                <a:latin typeface="Montserrat Regular"/>
                <a:ea typeface="Montserrat Regular"/>
                <a:cs typeface="Montserrat Regular"/>
              </a:rPr>
              <a:t>11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37400" y="1168400"/>
            <a:ext cx="1066800" cy="9906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20078700" y="2971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가설 및 문제정의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078700" y="3860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데이터셋 분할 전략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078700" y="48260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모델 개발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12000" y="6680200"/>
            <a:ext cx="3581400" cy="914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20078700" y="68961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00B76D"/>
                </a:solidFill>
                <a:latin typeface="Gong Gothic Light"/>
                <a:ea typeface="Gong Gothic Light"/>
                <a:cs typeface="Gong Gothic Light"/>
              </a:rPr>
              <a:t>팀원별 담당 역할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0078700" y="58039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성능 평가 결과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A50B9B-AB9B-4E68-B215-87D3063883F2}"/>
              </a:ext>
            </a:extLst>
          </p:cNvPr>
          <p:cNvSpPr txBox="1"/>
          <p:nvPr/>
        </p:nvSpPr>
        <p:spPr>
          <a:xfrm>
            <a:off x="6591300" y="3687901"/>
            <a:ext cx="112014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0" dirty="0"/>
              <a:t>The End</a:t>
            </a:r>
            <a:endParaRPr lang="ko-KR" altLang="en-US" sz="20000" dirty="0"/>
          </a:p>
        </p:txBody>
      </p:sp>
    </p:spTree>
    <p:extLst>
      <p:ext uri="{BB962C8B-B14F-4D97-AF65-F5344CB8AC3E}">
        <p14:creationId xmlns:p14="http://schemas.microsoft.com/office/powerpoint/2010/main" val="969154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653</Words>
  <Application>Microsoft Office PowerPoint</Application>
  <PresentationFormat>사용자 지정</PresentationFormat>
  <Paragraphs>207</Paragraphs>
  <Slides>13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3" baseType="lpstr">
      <vt:lpstr>Gong Gothic Light</vt:lpstr>
      <vt:lpstr>Pretendard Light</vt:lpstr>
      <vt:lpstr>Calibri</vt:lpstr>
      <vt:lpstr>Gong Gothic Medium</vt:lpstr>
      <vt:lpstr>Montserrat Bold</vt:lpstr>
      <vt:lpstr>맑은 고딕</vt:lpstr>
      <vt:lpstr>Arial</vt:lpstr>
      <vt:lpstr>Montserrat Regular</vt:lpstr>
      <vt:lpstr>Pretendard Regular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FullName</cp:lastModifiedBy>
  <cp:revision>7</cp:revision>
  <dcterms:created xsi:type="dcterms:W3CDTF">2006-08-16T00:00:00Z</dcterms:created>
  <dcterms:modified xsi:type="dcterms:W3CDTF">2026-08-11T05:57:27Z</dcterms:modified>
</cp:coreProperties>
</file>